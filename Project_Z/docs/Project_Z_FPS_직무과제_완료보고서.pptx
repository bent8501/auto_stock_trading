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5" r:id="rId2"/>
    <p:sldMasterId id="2147483727" r:id="rId3"/>
  </p:sldMasterIdLst>
  <p:notesMasterIdLst>
    <p:notesMasterId r:id="rId19"/>
  </p:notesMasterIdLst>
  <p:sldIdLst>
    <p:sldId id="343" r:id="rId4"/>
    <p:sldId id="256" r:id="rId5"/>
    <p:sldId id="345" r:id="rId6"/>
    <p:sldId id="295" r:id="rId7"/>
    <p:sldId id="341" r:id="rId8"/>
    <p:sldId id="351" r:id="rId9"/>
    <p:sldId id="346" r:id="rId10"/>
    <p:sldId id="352" r:id="rId11"/>
    <p:sldId id="347" r:id="rId12"/>
    <p:sldId id="354" r:id="rId13"/>
    <p:sldId id="348" r:id="rId14"/>
    <p:sldId id="355" r:id="rId15"/>
    <p:sldId id="349" r:id="rId16"/>
    <p:sldId id="353" r:id="rId17"/>
    <p:sldId id="34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96" autoAdjust="0"/>
    <p:restoredTop sz="84411" autoAdjust="0"/>
  </p:normalViewPr>
  <p:slideViewPr>
    <p:cSldViewPr snapToGrid="0">
      <p:cViewPr varScale="1">
        <p:scale>
          <a:sx n="93" d="100"/>
          <a:sy n="93" d="100"/>
        </p:scale>
        <p:origin x="16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B434-0EB4-4E3F-A14E-FFA59ADF6F0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3B97A-D88F-4C84-BE11-79E49CA04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0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B97A-D88F-4C84-BE11-79E49CA043A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9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6B65C4A1-ED6C-AA8C-9E9A-D1FCBB42B5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9F4BCD6F-82CA-3DDD-474F-AD9587C9BD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5BC6E62E-12EA-636B-FF4C-E53392E1F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2288B4D-1C0C-9C48-8458-D1732D8F0181}" type="slidenum">
              <a:rPr lang="en-US" altLang="ko-KR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B97A-D88F-4C84-BE11-79E49CA043A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5847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29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98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35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92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9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9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14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70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34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7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09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400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418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4381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Relationship Id="rId3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3.xml"/><Relationship Id="rId3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825FF58-7824-951E-235D-1A2B944800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70550" y="0"/>
            <a:ext cx="6521450" cy="6858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7DEB01-C2EE-3D6F-C318-02977588317D}"/>
              </a:ext>
            </a:extLst>
          </p:cNvPr>
          <p:cNvSpPr/>
          <p:nvPr userDrawn="1"/>
        </p:nvSpPr>
        <p:spPr>
          <a:xfrm>
            <a:off x="504825" y="6363134"/>
            <a:ext cx="3738563" cy="3444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© </a:t>
            </a:r>
            <a:r>
              <a:rPr lang="en-US" altLang="ko-KR" sz="8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Smilegate</a:t>
            </a:r>
            <a:r>
              <a:rPr lang="en-US" altLang="ko-KR" sz="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. All rights reserved.</a:t>
            </a:r>
            <a:endParaRPr lang="ko-KR" altLang="en-US" sz="8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5281B78E-8005-6225-B7EA-BFDD039D0D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2763" y="6011406"/>
            <a:ext cx="6873998" cy="38985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※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본 문서는 ㈜스마일게이트의 자산으로 저작권은 스마일게이트에 있으며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,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임의로 복사되거나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배포 될 수 없습니다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.</a:t>
            </a:r>
            <a:br>
              <a:rPr lang="en-US" altLang="ko-KR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</a:br>
            <a:r>
              <a:rPr lang="en-US" altLang="ko-KR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※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This document is the Smilegate Group rights to the assets of the Smilegate, and can not be arbitrarily copied or distributed.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8162E2-1360-521F-38BE-DFF6BF3F7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70" y="517113"/>
            <a:ext cx="1079498" cy="22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0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6971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394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091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788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44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6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4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5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5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6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7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2401B-F444-44FB-1D03-31F1B784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0"/>
          </a:blip>
          <a:srcRect l="1373" r="1373" b="6250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283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hf hdr="0" ftr="0" dt="0"/>
  <p:txStyles>
    <p:titleStyle>
      <a:lvl1pPr algn="ctr" defTabSz="1028700" rtl="0" eaLnBrk="0" fontAlgn="base" latinLnBrk="1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6971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3944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0915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7885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84175" indent="-384175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5025" indent="-320675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7463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3400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9338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35508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51054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66603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82151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5546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109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6641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89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773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28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8829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24377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93FA86B-43BD-1C96-B301-CC97F1D52F3E}"/>
              </a:ext>
            </a:extLst>
          </p:cNvPr>
          <p:cNvSpPr txBox="1"/>
          <p:nvPr/>
        </p:nvSpPr>
        <p:spPr>
          <a:xfrm>
            <a:off x="492125" y="2711795"/>
            <a:ext cx="40222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2900">
                <a:solidFill>
                  <a:srgbClr val="232323"/>
                </a:solidFill>
                <a:latin typeface="맑은 고딕"/>
              </a:rPr>
              <a:t>직무과제 완료보고서</a:t>
            </a:r>
          </a:p>
          <a:p>
            <a:pPr>
              <a:spcAft>
                <a:spcPts val="600"/>
              </a:spcAft>
            </a:pPr>
            <a:r>
              <a:rPr sz="2900">
                <a:solidFill>
                  <a:srgbClr val="232323"/>
                </a:solidFill>
                <a:latin typeface="맑은 고딕"/>
              </a:rPr>
              <a:t>FPS 멀티플레이 개발 결과</a:t>
            </a:r>
          </a:p>
        </p:txBody>
      </p:sp>
      <p:grpSp>
        <p:nvGrpSpPr>
          <p:cNvPr id="26" name="그룹 1">
            <a:extLst>
              <a:ext uri="{FF2B5EF4-FFF2-40B4-BE49-F238E27FC236}">
                <a16:creationId xmlns:a16="http://schemas.microsoft.com/office/drawing/2014/main" id="{7F9362D0-0679-69B7-C7F0-D347745DC8F3}"/>
              </a:ext>
            </a:extLst>
          </p:cNvPr>
          <p:cNvGrpSpPr>
            <a:grpSpLocks/>
          </p:cNvGrpSpPr>
          <p:nvPr/>
        </p:nvGrpSpPr>
        <p:grpSpPr bwMode="auto">
          <a:xfrm>
            <a:off x="519113" y="4372781"/>
            <a:ext cx="1552593" cy="697018"/>
            <a:chOff x="393316" y="4908412"/>
            <a:chExt cx="1433775" cy="69683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12483C-FBE4-5D7E-E0DA-899ABD15CBE0}"/>
                </a:ext>
              </a:extLst>
            </p:cNvPr>
            <p:cNvSpPr txBox="1"/>
            <p:nvPr/>
          </p:nvSpPr>
          <p:spPr>
            <a:xfrm>
              <a:off x="393316" y="4908505"/>
              <a:ext cx="526297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작성자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056C02-57E1-A3DB-1CA0-D83C562D2E36}"/>
                </a:ext>
              </a:extLst>
            </p:cNvPr>
            <p:cNvSpPr txBox="1"/>
            <p:nvPr/>
          </p:nvSpPr>
          <p:spPr>
            <a:xfrm>
              <a:off x="946001" y="4908412"/>
              <a:ext cx="804113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박종호 이름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4370B3-6C54-DCEC-16DC-3A0A10278311}"/>
                </a:ext>
              </a:extLst>
            </p:cNvPr>
            <p:cNvSpPr txBox="1"/>
            <p:nvPr/>
          </p:nvSpPr>
          <p:spPr>
            <a:xfrm>
              <a:off x="393316" y="5133844"/>
              <a:ext cx="407551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소속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32C52E-4C17-1EF3-C4A9-194B5F88C76C}"/>
                </a:ext>
              </a:extLst>
            </p:cNvPr>
            <p:cNvSpPr txBox="1"/>
            <p:nvPr/>
          </p:nvSpPr>
          <p:spPr>
            <a:xfrm>
              <a:off x="946001" y="5133751"/>
              <a:ext cx="881090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리소스지원팀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4244CF1-9237-3F01-4059-500C16FEFC7A}"/>
                </a:ext>
              </a:extLst>
            </p:cNvPr>
            <p:cNvSpPr txBox="1"/>
            <p:nvPr/>
          </p:nvSpPr>
          <p:spPr>
            <a:xfrm>
              <a:off x="393316" y="5359182"/>
              <a:ext cx="526297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작성일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DD55F5-4C05-6891-256A-2A8695F7ADBE}"/>
                </a:ext>
              </a:extLst>
            </p:cNvPr>
            <p:cNvSpPr txBox="1"/>
            <p:nvPr/>
          </p:nvSpPr>
          <p:spPr>
            <a:xfrm>
              <a:off x="946001" y="5359087"/>
              <a:ext cx="777468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2026.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07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.04</a:t>
              </a:r>
              <a:endParaRPr kumimoji="0" lang="ko-KR" altLang="en-US" sz="10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4A517D-BA34-CB25-42E0-1EC5A98C0D63}"/>
              </a:ext>
            </a:extLst>
          </p:cNvPr>
          <p:cNvSpPr txBox="1"/>
          <p:nvPr/>
        </p:nvSpPr>
        <p:spPr>
          <a:xfrm>
            <a:off x="629342" y="1150769"/>
            <a:ext cx="11174582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2. 진행 결과 (계획했던 목표 대비 실제 달성 내용 작성)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8FF58-E61B-000D-90FC-FC8F1D55B5A7}"/>
              </a:ext>
            </a:extLst>
          </p:cNvPr>
          <p:cNvSpPr txBox="1"/>
          <p:nvPr/>
        </p:nvSpPr>
        <p:spPr>
          <a:xfrm>
            <a:off x="629344" y="397999"/>
            <a:ext cx="4850446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1. 업무명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6BF5F-F508-3B69-BE56-87B69531AE8E}"/>
              </a:ext>
            </a:extLst>
          </p:cNvPr>
          <p:cNvSpPr txBox="1"/>
          <p:nvPr/>
        </p:nvSpPr>
        <p:spPr>
          <a:xfrm>
            <a:off x="629342" y="774384"/>
            <a:ext cx="10233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32323"/>
                </a:solidFill>
                <a:latin typeface="맑은 고딕"/>
              </a:rPr>
              <a:t>- Unreal Engine 기반 FPS 멀티플레이 샘플 프로젝트 제작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709D6-6329-C937-F765-1626AC7FD6B4}"/>
              </a:ext>
            </a:extLst>
          </p:cNvPr>
          <p:cNvSpPr txBox="1"/>
          <p:nvPr/>
        </p:nvSpPr>
        <p:spPr>
          <a:xfrm>
            <a:off x="774597" y="1620040"/>
            <a:ext cx="1023309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600">
                <a:solidFill>
                  <a:srgbClr val="232323"/>
                </a:solidFill>
                <a:latin typeface="맑은 고딕"/>
              </a:rPr>
              <a:t>개발 목표</a:t>
            </a:r>
            <a:endParaRPr lang="en-US" altLang="ko-KR" sz="1400" dirty="0"/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기존 TPS 자산과 공통 기능을 활용한 FPS 멀티플레이 구조 구현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서버 권한 기반 팀 선택·전투·피해·리스폰 및 경기 진행 구현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C++·Blueprint·DataAsset 역할 구분과 HUD 연동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달성 내용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캐릭터 Base/Multi/TPS/FPS 구조 정리 (달성)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팀 선택·승인·주변 스폰·대기열 (구현)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FPS 조작·달리기·ADS·무기 교체 (구현)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서버 발사·피해·쉴드·리스폰 (구현)</a:t>
            </a:r>
          </a:p>
        </p:txBody>
      </p:sp>
    </p:spTree>
    <p:extLst>
      <p:ext uri="{BB962C8B-B14F-4D97-AF65-F5344CB8AC3E}">
        <p14:creationId xmlns:p14="http://schemas.microsoft.com/office/powerpoint/2010/main" val="184160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316386-7E38-9B76-C230-2D2483831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55"/>
            <a:ext cx="10515600" cy="4931711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buFontTx/>
              <a:buChar char="-"/>
            </a:pPr>
            <a:r>
              <a:rPr sz="1700">
                <a:solidFill>
                  <a:srgbClr val="232323"/>
                </a:solidFill>
                <a:latin typeface="맑은 고딕"/>
              </a:rPr>
              <a:t>• 무기: 권총·소총·샷건, 동일 무기 최대 3회 강화, 재장전 타이머 구현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• 발사체: 서버 검증, 다중 발사, 충돌·관통, Object Pool 재사용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• 아이템: 무기·쉴드 공용 픽업, 지점별 개별 재생성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• UI: HP·쉴드·탄약, 팀 점수·경기 시간, 팀 마커·결과 메뉴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• 경기: Waiting → Playing → Finished, 제한 시간·점수·기권 판정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미완료 및 추가 검증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• 접속 유지형 재경기 초기화·결과 버튼 연결 미구현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• 최대 6인, 지연·손실, 최신 통합 회귀 검증 미완료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32323"/>
                </a:solidFill>
                <a:latin typeface="맑은 고딕"/>
              </a:rPr>
              <a:t>• 기존 TPS의 AI·엄폐·Wave·보스 기능은 신규 FPS 성과에서 제외</a:t>
            </a:r>
          </a:p>
        </p:txBody>
      </p:sp>
    </p:spTree>
    <p:extLst>
      <p:ext uri="{BB962C8B-B14F-4D97-AF65-F5344CB8AC3E}">
        <p14:creationId xmlns:p14="http://schemas.microsoft.com/office/powerpoint/2010/main" val="232771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DE770E-1E8D-3DA7-8B94-615BFDC947A3}"/>
              </a:ext>
            </a:extLst>
          </p:cNvPr>
          <p:cNvSpPr txBox="1"/>
          <p:nvPr/>
        </p:nvSpPr>
        <p:spPr>
          <a:xfrm>
            <a:off x="709250" y="817653"/>
            <a:ext cx="9280948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3. 성과 (기대효과 대비 달성한 내용 작성)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1EE56-C0FB-C910-EF01-5995E7F9D9FF}"/>
              </a:ext>
            </a:extLst>
          </p:cNvPr>
          <p:cNvSpPr txBox="1"/>
          <p:nvPr/>
        </p:nvSpPr>
        <p:spPr>
          <a:xfrm>
            <a:off x="709250" y="1194038"/>
            <a:ext cx="102330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700">
                <a:solidFill>
                  <a:srgbClr val="232323"/>
                </a:solidFill>
                <a:latin typeface="맑은 고딕"/>
              </a:rPr>
              <a:t>서버 권한·RPC·복제·Pawn 수명에 따른 기능 분리를 적용하고, 팀 입장부터 전투·점수·경기 종료까지 연결했습니다. 기능별 구현 경험은 확보했으나 6인 안정성·성능 개선·무중단 재경기는 검증 성과로 주장하지 않습니다.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A8B04-132D-6E2A-4AC4-A6C345D75C13}"/>
              </a:ext>
            </a:extLst>
          </p:cNvPr>
          <p:cNvSpPr txBox="1"/>
          <p:nvPr/>
        </p:nvSpPr>
        <p:spPr>
          <a:xfrm>
            <a:off x="709250" y="3213888"/>
            <a:ext cx="8509014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4. 업무일정 (실제 업무 일정)</a:t>
            </a:r>
            <a:endParaRPr lang="ko-KR" altLang="en-US" sz="184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97E7C-0D9C-4B1F-083D-4D6AE09C9CE6}"/>
              </a:ext>
            </a:extLst>
          </p:cNvPr>
          <p:cNvSpPr txBox="1"/>
          <p:nvPr/>
        </p:nvSpPr>
        <p:spPr>
          <a:xfrm>
            <a:off x="709250" y="3590273"/>
            <a:ext cx="102330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500">
                <a:solidFill>
                  <a:srgbClr val="232323"/>
                </a:solidFill>
                <a:latin typeface="맑은 고딕"/>
              </a:rPr>
              <a:t>10/01   Multi 캐릭터·Controller·GameMode 기반 추가</a:t>
            </a:r>
            <a:endParaRPr lang="en-US" altLang="ko-KR" sz="1400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10/06~08   Base/Multi/TPS/FPS 구조 정리 및 HUD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10/12~14   HP Bar·공통 무기/발사 구조 이관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10/15~17   멀티 전투·애니메이션·리스폰 보완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10/19~21   팀 선택 UI·서버 승인·스폰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10/22~23   팀 점수·마커·주변 스폰·대기열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10/26~27   달리기·쉴드·무기 강화·픽업·샷건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10/27~28   경기 시간·결과·퇴장 및 오류 수정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※ 09/28~30의 날짜별 구현 이력은 확인되지 않음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F8062DA-1F65-1753-D417-BA8233419894}"/>
              </a:ext>
            </a:extLst>
          </p:cNvPr>
          <p:cNvSpPr txBox="1"/>
          <p:nvPr/>
        </p:nvSpPr>
        <p:spPr>
          <a:xfrm>
            <a:off x="627057" y="402419"/>
            <a:ext cx="7857129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5. 업무결과 (결과물 첨부)</a:t>
            </a:r>
            <a:endParaRPr lang="ko-KR" altLang="en-US" sz="1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62874-D03B-0409-59A1-62A15120165E}"/>
              </a:ext>
            </a:extLst>
          </p:cNvPr>
          <p:cNvSpPr txBox="1"/>
          <p:nvPr/>
        </p:nvSpPr>
        <p:spPr>
          <a:xfrm>
            <a:off x="762413" y="779445"/>
            <a:ext cx="1023309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600">
                <a:solidFill>
                  <a:srgbClr val="232323"/>
                </a:solidFill>
                <a:latin typeface="맑은 고딕"/>
              </a:rPr>
              <a:t>아키텍처</a:t>
            </a:r>
            <a:endParaRPr lang="en-US" altLang="ko-KR" sz="1400" dirty="0"/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C++ 핵심 규칙과 Blueprint 시각 자산·설정 분리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ZCharacterBase → ZCharacterBaseMulti → FPS/TPS 상속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MultiGameMode: 서버 팀 승인·스폰·점수·경기 규칙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MultiGameState: 팀 점수·시간·경기 단계 복제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MultiPlayerState: 팀 소속 보관·복제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MultiPlayerController: 서버 요청·로컬 HUD·메뉴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WeaponDataAsset: 무기 기본 설정 / 캐릭터: 실행 상태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Projectile / ActorPoolSubsystem: 충돌 처리와 객체 재사용</a:t>
            </a:r>
          </a:p>
        </p:txBody>
      </p:sp>
    </p:spTree>
    <p:extLst>
      <p:ext uri="{BB962C8B-B14F-4D97-AF65-F5344CB8AC3E}">
        <p14:creationId xmlns:p14="http://schemas.microsoft.com/office/powerpoint/2010/main" val="64375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5-1. 아키텍처 구현을 통한 역량 향상</a:t>
            </a:r>
            <a:endParaRPr sz="1800" b="1" dirty="0">
              <a:solidFill>
                <a:srgbClr val="000000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4592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수행 내용</a:t>
            </a:r>
            <a:endParaRPr sz="1400" b="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GameMode, GameState, PlayerState, Controller 책임 분리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캐릭터 사망 이후에도 팀을 유지하도록 PlayerState 사용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로컬 UI와 서버 판정, 상태 복제 시점 구분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공통 전투 로직을 Multi 기반으로 정리하고 FPS 정책 분리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향상된 실무 역량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권한·공유 범위·객체 수명에 따라 상태 소유 위치 판단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서버 요청과 클라이언트 표현의 경계 이해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기존 코드 재사용과 신규 기능 확장의 책임 구분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1E3BF-FDE8-1DF2-B879-20888B61F130}"/>
              </a:ext>
            </a:extLst>
          </p:cNvPr>
          <p:cNvSpPr txBox="1"/>
          <p:nvPr/>
        </p:nvSpPr>
        <p:spPr>
          <a:xfrm>
            <a:off x="433800" y="474345"/>
            <a:ext cx="1023309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sz="1600">
                <a:solidFill>
                  <a:srgbClr val="232323"/>
                </a:solidFill>
                <a:latin typeface="맑은 고딕"/>
              </a:rPr>
              <a:t>주요 클래스 및 함수</a:t>
            </a:r>
            <a:endParaRPr lang="en-US" altLang="ko-KR" sz="1400" dirty="0"/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AProject_Z_MultiGameMode: TrySelectPlayerTeam(), RestartPlayer(), RegisterPlayerKill()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AProject_Z_MultiGameState: TeamAScore, TeamBScore, MatchPhase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AProject_Z_MultiPlayerState: PlayerTeam, OnRep_PlayerTeam()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AProject_Z_MultiPlayerController: RequestTeamSelection(), CreateHUDWidget()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AZCharacterBaseMulti: 공통 전투·재장전·피해·사망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AZCharacter_FPS: FPS 입력·ADS·픽업 정책·마커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팀 입장 흐름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팀 UI → Controller 서버 RPC → GameMode 검증 → PlayerState 팀 저장 → 주변 스폰 탐색 → Pawn 준비 후 HUD 전환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※ 공간 부족 시 대기열 등록 후 기본 0.5초 간격 재탐색</a:t>
            </a:r>
          </a:p>
        </p:txBody>
      </p:sp>
    </p:spTree>
    <p:extLst>
      <p:ext uri="{BB962C8B-B14F-4D97-AF65-F5344CB8AC3E}">
        <p14:creationId xmlns:p14="http://schemas.microsoft.com/office/powerpoint/2010/main" val="421034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5-2. 전투·투사체 구현을 통한 역량 향상</a:t>
            </a:r>
            <a:endParaRPr sz="1800" b="1" dirty="0">
              <a:solidFill>
                <a:srgbClr val="000000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50660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맑은 고딕"/>
              </a:rPr>
              <a:t>수행 내용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FPS 이동·달리기·ADS와 서버 속도 반영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서버 발사 검증: 생존·경기·재장전·탄약·쿨다운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총구 위치·카메라 조준점으로 발사 방향 계산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샷건 다중 발사·확산, 발사체 풀 획득·초기화·반환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쉴드 우선 피해, HP 감소, 사망·점수·리스폰 연결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향상된 실무 역량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입력 → RPC → 서버 판정 → 충돌 → 상태 복제 추적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객체 재사용 시 충돌 무시·타이머·피격 기록 초기화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호스트·게스트 동작 차이를 단계별로 조사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1C478A-0DAA-E8ED-576F-5E75C316E295}"/>
              </a:ext>
            </a:extLst>
          </p:cNvPr>
          <p:cNvSpPr txBox="1"/>
          <p:nvPr/>
        </p:nvSpPr>
        <p:spPr>
          <a:xfrm>
            <a:off x="433800" y="474345"/>
            <a:ext cx="1023309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sz="1500">
                <a:solidFill>
                  <a:srgbClr val="232323"/>
                </a:solidFill>
                <a:latin typeface="맑은 고딕"/>
              </a:rPr>
              <a:t>주요 함수 및 처리 정책</a:t>
            </a:r>
            <a:endParaRPr lang="en-US" altLang="ko-KR" sz="1400" dirty="0"/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Fire(), ServerRequestFire_Implementation(), FirePrimaryProjectile()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AcquireActor(), ReleaseActor(), OnAcquiredFromPool_Implementation()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HandleProjectileOverlap(), RuntimeHitActors, RuntimeRemainingPierceCount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HandleReloadInput(), ServerRequestReload_Implementation(), ComplateServerReload()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ReceivePlayerDamage(), CurrentShield, OnPlayerDeath()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무기 정책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동일 DataAsset 습득 시 최대 3회 10% 강화·탄약 유지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다른 무기로 교체 시 강화 초기화·기본 탄약 적용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재장전 결과는 서버 타이머로 확정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※ 샷건 일부 발사체 생성 실패 시 처리 정책은 후속 검토</a:t>
            </a:r>
          </a:p>
        </p:txBody>
      </p:sp>
    </p:spTree>
    <p:extLst>
      <p:ext uri="{BB962C8B-B14F-4D97-AF65-F5344CB8AC3E}">
        <p14:creationId xmlns:p14="http://schemas.microsoft.com/office/powerpoint/2010/main" val="2117700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5-3. UI·상호작용 구현을 통한 역량 향상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9516" y="822960"/>
            <a:ext cx="10104120" cy="43273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수행 내용</a:t>
            </a:r>
            <a:endParaRPr sz="1400" b="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Controller에서 소유 플레이어의 HUD 생성·전환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HP·쉴드·탄약, 팀 점수·경기 시간 표시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피격 대상 HP Bar 및 시야 차폐를 고려한 팀 마커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팀 선택·스폰 대기·경기 결과·ESC 메뉴 연동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픽업 소비 성공 조건과 지점별 재생성 타이머 구성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향상된 실무 역량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Widget 클래스·인스턴스·데이터 준비 단계 구분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상태 복제와 로컬 표시의 갱신 시점 추적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서버 확정 상태와 사용자 화면 제어의 책임 분리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665D54-35A4-14CF-2D0E-EC1F2C4DEF24}"/>
              </a:ext>
            </a:extLst>
          </p:cNvPr>
          <p:cNvSpPr txBox="1"/>
          <p:nvPr/>
        </p:nvSpPr>
        <p:spPr>
          <a:xfrm>
            <a:off x="469518" y="366623"/>
            <a:ext cx="1064615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sz="1600">
                <a:solidFill>
                  <a:srgbClr val="232323"/>
                </a:solidFill>
                <a:latin typeface="맑은 고딕"/>
              </a:rPr>
              <a:t>주요 UI·아이템 클래스 및 함수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CreateHUDWidget(), HUDWidgetClass, HUDWidget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UZStateHUDWidget::RefreshCurrentStatus(): HP·쉴드·탄약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UZTeamStatusWidget::RefreshTeamStatus(): 점수·시간·팀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UpdateTeamMarkerPresentation(): 차폐 검사·팀 관계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AZShieldPickupActor::OnOverlapBegin(): 서버 회복 확인 후 소비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SpawnInitialShieldPickups(), SchedulePickupRespawn()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PickupSpawnOptionBag: 무기·쉴드 4종 셔플 백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구현 정책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픽업은 소비한 지점만 기본 10초 뒤 재생성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UI는 상태 원본이 아닌 조회·표현 담당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현재 Tick 조회와 변경 이벤트 혼합 구조</a:t>
            </a:r>
          </a:p>
        </p:txBody>
      </p:sp>
    </p:spTree>
    <p:extLst>
      <p:ext uri="{BB962C8B-B14F-4D97-AF65-F5344CB8AC3E}">
        <p14:creationId xmlns:p14="http://schemas.microsoft.com/office/powerpoint/2010/main" val="398759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5-4. 데이터·네트워크 구현을 통한 역량 향상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5004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>
                <a:solidFill>
                  <a:srgbClr val="232323"/>
                </a:solidFill>
                <a:latin typeface="맑은 고딕"/>
              </a:rPr>
              <a:t>수행 내용</a:t>
            </a:r>
            <a:endParaRPr lang="en-US" sz="1320" b="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WeaponDataAsset으로 공격력·탄약·발사체·조준 설정 분리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서버 RPC에서 무기 픽업·발사·재장전 조건 재검증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PlayerState·GameState·캐릭터 상태 복제와 RepNotify 연동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팀 선택 승인과 Pawn 실제 생성 가능 여부 분리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향상된 실무 역량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기본 설정과 런타임 변경 상태를 분리하여 확장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클라이언트 입력을 서버 결과로 직접 간주하지 않는 설계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복제 도착·Pawn 준비·UI 표시 순서 차이 분석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※ 기존 TPS의 GAS 적 피해 구현을 FPS 신규 성과로 중복 산정하지 않음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37E518-0DBB-7BDE-9279-C18DC8D9AE95}"/>
              </a:ext>
            </a:extLst>
          </p:cNvPr>
          <p:cNvSpPr txBox="1"/>
          <p:nvPr/>
        </p:nvSpPr>
        <p:spPr>
          <a:xfrm>
            <a:off x="469518" y="366623"/>
            <a:ext cx="106461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Aft>
                <a:spcPts val="600"/>
              </a:spcAft>
              <a:buFontTx/>
              <a:buChar char="-"/>
            </a:pPr>
            <a:r>
              <a:rPr sz="1600">
                <a:solidFill>
                  <a:srgbClr val="232323"/>
                </a:solidFill>
                <a:latin typeface="맑은 고딕"/>
              </a:rPr>
              <a:t>주요 데이터·복제 항목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UZWeaponDataAsset: 무기 기본 능력치·메시·소켓·조준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CurrentWeaponData / OnRep_CurrentWeaponData(): 무기 표현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SameWeaponDamageBonusStacks: 생명 단위 강화 상태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PlayerTeam / OnRep_PlayerTeam(): 팀 상태 복제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TeamAScore / TeamBScore: 팀 점수 공유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RemainingMatchSeconds / MatchPhase / WinningTeam: 경기 정보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CurrentShield / OnRep_CurrentShield(): 보호막 갱신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• bProjectileActive / OnRep_ProjectileActive(): 풀 재사용 표현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32323"/>
                </a:solidFill>
                <a:latin typeface="맑은 고딕"/>
              </a:rPr>
              <a:t>설계 기준: 서버 판정 → 상태 복제 → 각 클라이언트 UI·표현 갱신</a:t>
            </a:r>
          </a:p>
        </p:txBody>
      </p:sp>
    </p:spTree>
    <p:extLst>
      <p:ext uri="{BB962C8B-B14F-4D97-AF65-F5344CB8AC3E}">
        <p14:creationId xmlns:p14="http://schemas.microsoft.com/office/powerpoint/2010/main" val="187215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2200">
                <a:solidFill>
                  <a:srgbClr val="232323"/>
                </a:solidFill>
                <a:latin typeface="맑은 고딕"/>
              </a:rPr>
              <a:t>5-5. 경기 진행·리스폰 구현을 통한 역량 향상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49121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500">
                <a:solidFill>
                  <a:srgbClr val="232323"/>
                </a:solidFill>
                <a:latin typeface="맑은 고딕"/>
              </a:rPr>
              <a:t>수행 내용</a:t>
            </a:r>
            <a:endParaRPr lang="en-US" altLang="ko-KR" sz="140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Waiting → Playing → Finished 경기 단계 구성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양 팀 인원 존재 시 시작, 기본 120초 제한 시간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종료 시 점수 비교, 한 팀 이탈 시 기권 승리 처리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사망 후 기본 3초 지연 리스폰·팀 유지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팀 시작점 주변 탐색 및 혼잡 시 대기·재시도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향상된 실무 역량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서버 경기 규칙과 로컬 메뉴·결과 표시 분리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지연 작업·Pawn 교체·팀 유지 상태의 수명 관리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• 종료·재경기 전환에 필요한 초기화 범위 식별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32323"/>
                </a:solidFill>
                <a:latin typeface="맑은 고딕"/>
              </a:rPr>
              <a:t>후속 과제: 접속 유지 재경기 미구현, 6인·지연·손실·연속 재시작 검증 필요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E8AC05D6-54D6-2952-91A3-3178575C3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5314" y="6411160"/>
            <a:ext cx="1520825" cy="292100"/>
          </a:xfrm>
          <a:prstGeom prst="rect">
            <a:avLst/>
          </a:prstGeom>
          <a:noFill/>
          <a:ln>
            <a:noFill/>
          </a:ln>
        </p:spPr>
        <p:txBody>
          <a:bodyPr wrap="square" lIns="91431" tIns="45715" rIns="91431" bIns="45715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sz="2400">
                <a:solidFill>
                  <a:srgbClr val="232323"/>
                </a:solidFill>
                <a:latin typeface="맑은 고딕"/>
              </a:rPr>
              <a:t>End of Document</a:t>
            </a:r>
            <a:endParaRPr kumimoji="0" lang="ko-KR" altLang="en-US" sz="1300" b="0" i="0" u="sng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83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solidFill>
            <a:schemeClr val="bg1">
              <a:lumMod val="95000"/>
            </a:schemeClr>
          </a:solidFill>
        </a:ln>
      </a:spPr>
      <a:bodyPr wrap="none" anchor="ctr"/>
      <a:lstStyle>
        <a:defPPr defTabSz="914218" fontAlgn="auto">
          <a:spcBef>
            <a:spcPts val="0"/>
          </a:spcBef>
          <a:spcAft>
            <a:spcPts val="0"/>
          </a:spcAft>
          <a:buFont typeface="Arial" panose="020B0604020202020204" pitchFamily="34" charset="0"/>
          <a:buChar char="•"/>
          <a:defRPr kumimoji="0" sz="1000" b="1" dirty="0" err="1" smtClean="0">
            <a:solidFill>
              <a:prstClr val="black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91431" tIns="45715" rIns="91431" bIns="45715" rtlCol="0">
        <a:spAutoFit/>
      </a:bodyPr>
      <a:lstStyle>
        <a:defPPr algn="ctr" defTabSz="914218" fontAlgn="auto">
          <a:spcBef>
            <a:spcPts val="0"/>
          </a:spcBef>
          <a:spcAft>
            <a:spcPts val="0"/>
          </a:spcAft>
          <a:buFont typeface="Arial" panose="020B0604020202020204" pitchFamily="34" charset="0"/>
          <a:buChar char="•"/>
          <a:defRPr kumimoji="0" sz="1200" dirty="0" err="1" smtClean="0">
            <a:latin typeface="+mn-ea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C718CE-AE59-499B-8094-4C7C0F0472B9}">
  <we:reference id="cba9fc06-6fc9-492e-9525-923870a3b909" version="2.0.0.0" store="EXCatalog" storeType="EXCatalog"/>
  <we:alternateReferences>
    <we:reference id="WA200010215" version="2.0.0.0" store="ko-K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2332</Words>
  <Application>Microsoft Office PowerPoint</Application>
  <PresentationFormat>와이드스크린</PresentationFormat>
  <Paragraphs>289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굴림</vt:lpstr>
      <vt:lpstr>Malgun Gothic</vt:lpstr>
      <vt:lpstr>Malgun Gothic</vt:lpstr>
      <vt:lpstr>Aptos</vt:lpstr>
      <vt:lpstr>Aptos Display</vt:lpstr>
      <vt:lpstr>Arial</vt:lpstr>
      <vt:lpstr>Office 테마</vt:lpstr>
      <vt:lpstr>디자인 사용자 지정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허영/SG 리소스지원팀</dc:creator>
  <cp:lastModifiedBy>박종호B/SG 리소스지원팀</cp:lastModifiedBy>
  <cp:revision>37</cp:revision>
  <dcterms:created xsi:type="dcterms:W3CDTF">2026-06-04T10:28:46Z</dcterms:created>
  <dcterms:modified xsi:type="dcterms:W3CDTF">2026-09-08T05:09:04Z</dcterms:modified>
</cp:coreProperties>
</file>