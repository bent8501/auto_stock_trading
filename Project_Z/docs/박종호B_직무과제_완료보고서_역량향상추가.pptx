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  <p:sldMasterId id="2147483725" r:id="rId2"/>
    <p:sldMasterId id="2147483727" r:id="rId3"/>
  </p:sldMasterIdLst>
  <p:notesMasterIdLst>
    <p:notesMasterId r:id="rId19"/>
  </p:notesMasterIdLst>
  <p:sldIdLst>
    <p:sldId id="343" r:id="rId4"/>
    <p:sldId id="256" r:id="rId5"/>
    <p:sldId id="345" r:id="rId6"/>
    <p:sldId id="295" r:id="rId7"/>
    <p:sldId id="341" r:id="rId8"/>
    <p:sldId id="351" r:id="rId9"/>
    <p:sldId id="346" r:id="rId10"/>
    <p:sldId id="352" r:id="rId11"/>
    <p:sldId id="347" r:id="rId12"/>
    <p:sldId id="354" r:id="rId13"/>
    <p:sldId id="348" r:id="rId14"/>
    <p:sldId id="355" r:id="rId15"/>
    <p:sldId id="349" r:id="rId16"/>
    <p:sldId id="353" r:id="rId17"/>
    <p:sldId id="344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896" autoAdjust="0"/>
    <p:restoredTop sz="84411" autoAdjust="0"/>
  </p:normalViewPr>
  <p:slideViewPr>
    <p:cSldViewPr snapToGrid="0">
      <p:cViewPr varScale="1">
        <p:scale>
          <a:sx n="93" d="100"/>
          <a:sy n="93" d="100"/>
        </p:scale>
        <p:origin x="16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B434-0EB4-4E3F-A14E-FFA59ADF6F04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3B97A-D88F-4C84-BE11-79E49CA043A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0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B97A-D88F-4C84-BE11-79E49CA043A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9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6B65C4A1-ED6C-AA8C-9E9A-D1FCBB42B5D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9F4BCD6F-82CA-3DDD-474F-AD9587C9BD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dirty="0"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5BC6E62E-12EA-636B-FF4C-E53392E1FE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1030288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1030288" eaLnBrk="0" fontAlgn="base" latinLnBrk="1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spcBef>
                <a:spcPct val="0"/>
              </a:spcBef>
            </a:pPr>
            <a:fld id="{62288B4D-1C0C-9C48-8458-D1732D8F0181}" type="slidenum">
              <a:rPr lang="en-US" altLang="ko-KR" smtClean="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43B97A-D88F-4C84-BE11-79E49CA043A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65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7290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0983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353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922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92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797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9148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70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343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078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814BE-64A9-43B1-9DF3-EBA91FA31615}" type="datetimeFigureOut">
              <a:rPr lang="ko-KR" altLang="en-US" smtClean="0"/>
              <a:t>2026-09-08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2A23B-4B96-44C8-B5BB-35AF2B486F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009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400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5418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438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4917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825FF58-7824-951E-235D-1A2B944800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70550" y="0"/>
            <a:ext cx="6521450" cy="6858000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F87DEB01-C2EE-3D6F-C318-02977588317D}"/>
              </a:ext>
            </a:extLst>
          </p:cNvPr>
          <p:cNvSpPr/>
          <p:nvPr userDrawn="1"/>
        </p:nvSpPr>
        <p:spPr>
          <a:xfrm>
            <a:off x="504825" y="6363134"/>
            <a:ext cx="3738563" cy="3444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© </a:t>
            </a:r>
            <a:r>
              <a:rPr lang="en-US" altLang="ko-KR" sz="8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Smilegate</a:t>
            </a:r>
            <a:r>
              <a:rPr lang="en-US" altLang="ko-KR" sz="8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</a:rPr>
              <a:t>. All rights reserved.</a:t>
            </a:r>
            <a:endParaRPr lang="ko-KR" altLang="en-US" sz="800" b="1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5281B78E-8005-6225-B7EA-BFDD039D0D8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12763" y="6011406"/>
            <a:ext cx="6873998" cy="389850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/>
          <a:p>
            <a:pPr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※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본 문서는 ㈜스마일게이트의 자산으로 저작권은 스마일게이트에 있으며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,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임의로 복사되거나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 </a:t>
            </a:r>
            <a:r>
              <a:rPr lang="ko-KR" altLang="en-US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배포 될 수 없습니다</a:t>
            </a:r>
            <a:r>
              <a:rPr lang="en-US" altLang="ko-KR" sz="800" b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.</a:t>
            </a:r>
            <a:br>
              <a:rPr lang="en-US" altLang="ko-KR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</a:br>
            <a:r>
              <a:rPr lang="en-US" altLang="ko-KR" sz="9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※ </a:t>
            </a:r>
            <a:r>
              <a:rPr lang="en-US" altLang="ko-KR" sz="9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8C8C8"/>
                </a:solidFill>
                <a:latin typeface="+mn-ea"/>
                <a:ea typeface="+mn-ea"/>
              </a:rPr>
              <a:t>This document is the Smilegate Group rights to the assets of the Smilegate, and can not be arbitrarily copied or distributed.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08162E2-1360-521F-38BE-DFF6BF3F79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70" y="517113"/>
            <a:ext cx="1079498" cy="22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100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1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3944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091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7885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1313" indent="-3413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44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6" indent="-228485" algn="l" defTabSz="913944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944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5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5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6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7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4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2401B-F444-44FB-1D03-31F1B784B2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70000"/>
          </a:blip>
          <a:srcRect l="1373" r="1373" b="62501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2837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hf hdr="0" ftr="0" dt="0"/>
  <p:txStyles>
    <p:titleStyle>
      <a:lvl1pPr algn="ctr" defTabSz="1028700" rtl="0" eaLnBrk="0" fontAlgn="base" latinLnBrk="1" hangingPunct="0"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defTabSz="1028700" rtl="0" eaLnBrk="0" fontAlgn="base" latinLnBrk="1" hangingPunct="0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6971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3944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0915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7885" algn="ctr" defTabSz="1029773" rtl="0" fontAlgn="base" latinLnBrk="1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84175" indent="-384175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35025" indent="-320675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287463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1803400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19338" indent="-255588" algn="l" defTabSz="1028700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35508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351054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866603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382151" indent="-257776" algn="l" defTabSz="1031094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5546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3109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6641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62189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773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284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8829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24377" algn="l" defTabSz="1031094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93FA86B-43BD-1C96-B301-CC97F1D52F3E}"/>
              </a:ext>
            </a:extLst>
          </p:cNvPr>
          <p:cNvSpPr txBox="1"/>
          <p:nvPr/>
        </p:nvSpPr>
        <p:spPr>
          <a:xfrm>
            <a:off x="492125" y="2711795"/>
            <a:ext cx="402225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직무과제 완료보고서</a:t>
            </a:r>
          </a:p>
        </p:txBody>
      </p:sp>
      <p:grpSp>
        <p:nvGrpSpPr>
          <p:cNvPr id="26" name="그룹 1">
            <a:extLst>
              <a:ext uri="{FF2B5EF4-FFF2-40B4-BE49-F238E27FC236}">
                <a16:creationId xmlns:a16="http://schemas.microsoft.com/office/drawing/2014/main" id="{7F9362D0-0679-69B7-C7F0-D347745DC8F3}"/>
              </a:ext>
            </a:extLst>
          </p:cNvPr>
          <p:cNvGrpSpPr>
            <a:grpSpLocks/>
          </p:cNvGrpSpPr>
          <p:nvPr/>
        </p:nvGrpSpPr>
        <p:grpSpPr bwMode="auto">
          <a:xfrm>
            <a:off x="519113" y="4372781"/>
            <a:ext cx="1552593" cy="697018"/>
            <a:chOff x="393316" y="4908412"/>
            <a:chExt cx="1433775" cy="696830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8F12483C-FBE4-5D7E-E0DA-899ABD15CBE0}"/>
                </a:ext>
              </a:extLst>
            </p:cNvPr>
            <p:cNvSpPr txBox="1"/>
            <p:nvPr/>
          </p:nvSpPr>
          <p:spPr>
            <a:xfrm>
              <a:off x="393316" y="4908505"/>
              <a:ext cx="526297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작성자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F056C02-57E1-A3DB-1CA0-D83C562D2E36}"/>
                </a:ext>
              </a:extLst>
            </p:cNvPr>
            <p:cNvSpPr txBox="1"/>
            <p:nvPr/>
          </p:nvSpPr>
          <p:spPr>
            <a:xfrm>
              <a:off x="946001" y="4908412"/>
              <a:ext cx="804113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박종호 이름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4370B3-6C54-DCEC-16DC-3A0A10278311}"/>
                </a:ext>
              </a:extLst>
            </p:cNvPr>
            <p:cNvSpPr txBox="1"/>
            <p:nvPr/>
          </p:nvSpPr>
          <p:spPr>
            <a:xfrm>
              <a:off x="393316" y="5133844"/>
              <a:ext cx="407551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소속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E32C52E-4C17-1EF3-C4A9-194B5F88C76C}"/>
                </a:ext>
              </a:extLst>
            </p:cNvPr>
            <p:cNvSpPr txBox="1"/>
            <p:nvPr/>
          </p:nvSpPr>
          <p:spPr>
            <a:xfrm>
              <a:off x="946001" y="5133751"/>
              <a:ext cx="881090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리소스지원팀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4244CF1-9237-3F01-4059-500C16FEFC7A}"/>
                </a:ext>
              </a:extLst>
            </p:cNvPr>
            <p:cNvSpPr txBox="1"/>
            <p:nvPr/>
          </p:nvSpPr>
          <p:spPr>
            <a:xfrm>
              <a:off x="393316" y="5359182"/>
              <a:ext cx="526297" cy="245969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작성일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1DD55F5-4C05-6891-256A-2A8695F7ADBE}"/>
                </a:ext>
              </a:extLst>
            </p:cNvPr>
            <p:cNvSpPr txBox="1"/>
            <p:nvPr/>
          </p:nvSpPr>
          <p:spPr>
            <a:xfrm>
              <a:off x="946001" y="5359087"/>
              <a:ext cx="777468" cy="246155"/>
            </a:xfrm>
            <a:prstGeom prst="rect">
              <a:avLst/>
            </a:prstGeom>
            <a:noFill/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2026.</a:t>
              </a:r>
              <a:r>
                <a:rPr lang="en-US" altLang="ko-KR" sz="10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07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white">
                      <a:lumMod val="75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.04</a:t>
              </a:r>
              <a:endParaRPr kumimoji="0" lang="ko-KR" altLang="en-US" sz="1000" b="1" i="0" u="none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34A517D-BA34-CB25-42E0-1EC5A98C0D63}"/>
              </a:ext>
            </a:extLst>
          </p:cNvPr>
          <p:cNvSpPr txBox="1"/>
          <p:nvPr/>
        </p:nvSpPr>
        <p:spPr>
          <a:xfrm>
            <a:off x="629342" y="1150769"/>
            <a:ext cx="11174582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46" b="1" dirty="0"/>
              <a:t>2. </a:t>
            </a:r>
            <a:r>
              <a:rPr lang="ko-KR" altLang="en-US" sz="1846" b="1" dirty="0"/>
              <a:t>진행 결과 </a:t>
            </a:r>
            <a:r>
              <a:rPr lang="en-US" altLang="ko-KR" sz="1846" b="1" dirty="0"/>
              <a:t>(</a:t>
            </a:r>
            <a:r>
              <a:rPr lang="ko-KR" altLang="en-US" sz="1846" b="1" dirty="0"/>
              <a:t>계획했던 목표 대비 실제 달성 내용 작성</a:t>
            </a:r>
            <a:r>
              <a:rPr lang="en-US" altLang="ko-KR" sz="1846" b="1" dirty="0"/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D8FF58-E61B-000D-90FC-FC8F1D55B5A7}"/>
              </a:ext>
            </a:extLst>
          </p:cNvPr>
          <p:cNvSpPr txBox="1"/>
          <p:nvPr/>
        </p:nvSpPr>
        <p:spPr>
          <a:xfrm>
            <a:off x="629344" y="397999"/>
            <a:ext cx="4850446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46" b="1" dirty="0"/>
              <a:t>1. </a:t>
            </a:r>
            <a:r>
              <a:rPr lang="ko-KR" altLang="en-US" sz="1846" b="1" dirty="0"/>
              <a:t>업무명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66BF5F-F508-3B69-BE56-87B69531AE8E}"/>
              </a:ext>
            </a:extLst>
          </p:cNvPr>
          <p:cNvSpPr txBox="1"/>
          <p:nvPr/>
        </p:nvSpPr>
        <p:spPr>
          <a:xfrm>
            <a:off x="629342" y="774384"/>
            <a:ext cx="102330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/>
              <a:t>- Unreal Engine </a:t>
            </a:r>
            <a:r>
              <a:rPr lang="ko-KR" altLang="en-US" sz="1400" dirty="0"/>
              <a:t>기반 </a:t>
            </a:r>
            <a:r>
              <a:rPr lang="en-US" altLang="ko-KR" sz="1400" dirty="0"/>
              <a:t>TPS </a:t>
            </a:r>
            <a:r>
              <a:rPr lang="ko-KR" altLang="en-US" sz="1400" dirty="0"/>
              <a:t>좀비 서바이벌 샘플 프로젝트 제작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709D6-6329-C937-F765-1626AC7FD6B4}"/>
              </a:ext>
            </a:extLst>
          </p:cNvPr>
          <p:cNvSpPr txBox="1"/>
          <p:nvPr/>
        </p:nvSpPr>
        <p:spPr>
          <a:xfrm>
            <a:off x="774597" y="1620040"/>
            <a:ext cx="10233097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개발 목표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Unreal Engine </a:t>
            </a:r>
            <a:r>
              <a:rPr lang="ko-KR" altLang="en-US" sz="1400" dirty="0"/>
              <a:t>에서 실시간 액션형 샘플 콘텐츠의 핵심 개발 요소 구현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C++</a:t>
            </a:r>
            <a:r>
              <a:rPr lang="ko-KR" altLang="en-US" sz="1400" dirty="0"/>
              <a:t> 과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의 역할을 분리 하고</a:t>
            </a:r>
            <a:r>
              <a:rPr lang="en-US" altLang="ko-KR" sz="1400" dirty="0"/>
              <a:t>, Editor Asset </a:t>
            </a:r>
            <a:r>
              <a:rPr lang="ko-KR" altLang="en-US" sz="1400" dirty="0"/>
              <a:t>기반 조정 구조 구성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TPS </a:t>
            </a:r>
            <a:r>
              <a:rPr lang="ko-KR" altLang="en-US" sz="1400" dirty="0"/>
              <a:t>조작</a:t>
            </a:r>
            <a:r>
              <a:rPr lang="en-US" altLang="ko-KR" sz="1400" dirty="0"/>
              <a:t>, </a:t>
            </a:r>
            <a:r>
              <a:rPr lang="ko-KR" altLang="en-US" sz="1400" dirty="0"/>
              <a:t>엄폐</a:t>
            </a:r>
            <a:r>
              <a:rPr lang="en-US" altLang="ko-KR" sz="1400" dirty="0"/>
              <a:t>, </a:t>
            </a:r>
            <a:r>
              <a:rPr lang="ko-KR" altLang="en-US" sz="1400" dirty="0"/>
              <a:t>총기 전투</a:t>
            </a:r>
            <a:r>
              <a:rPr lang="en-US" altLang="ko-KR" sz="1400" dirty="0"/>
              <a:t>,  </a:t>
            </a:r>
            <a:r>
              <a:rPr lang="ko-KR" altLang="en-US" sz="1400" dirty="0"/>
              <a:t>적  </a:t>
            </a:r>
            <a:r>
              <a:rPr lang="en-US" altLang="ko-KR" sz="1400" dirty="0"/>
              <a:t>AI, UI, </a:t>
            </a:r>
            <a:r>
              <a:rPr lang="ko-KR" altLang="en-US" sz="1400" dirty="0"/>
              <a:t>데이터 기반 설정을 구현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GAS </a:t>
            </a:r>
            <a:r>
              <a:rPr lang="ko-KR" altLang="en-US" sz="1400" dirty="0"/>
              <a:t>기반의 데미지 처리 구조 구현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달성 내용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기본 플레이 흐름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Ready, Play, Stage Clear, Game Over </a:t>
            </a:r>
            <a:r>
              <a:rPr lang="ko-KR" altLang="en-US" sz="1400" dirty="0"/>
              <a:t>흐름 구현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카메라 이동 및 </a:t>
            </a:r>
            <a:r>
              <a:rPr lang="en-US" altLang="ko-KR" sz="1400" dirty="0"/>
              <a:t>Aim </a:t>
            </a:r>
            <a:r>
              <a:rPr lang="ko-KR" altLang="en-US" sz="1400" dirty="0"/>
              <a:t>구현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TPS </a:t>
            </a:r>
            <a:r>
              <a:rPr lang="ko-KR" altLang="en-US" sz="1400" dirty="0"/>
              <a:t>이동</a:t>
            </a:r>
            <a:r>
              <a:rPr lang="en-US" altLang="ko-KR" sz="1400" dirty="0"/>
              <a:t>, </a:t>
            </a:r>
            <a:r>
              <a:rPr lang="ko-KR" altLang="en-US" sz="1400" dirty="0"/>
              <a:t>카메라</a:t>
            </a:r>
            <a:r>
              <a:rPr lang="en-US" altLang="ko-KR" sz="1400" dirty="0"/>
              <a:t>, </a:t>
            </a:r>
            <a:r>
              <a:rPr lang="ko-KR" altLang="en-US" sz="1400" dirty="0"/>
              <a:t>조준 구현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엄폐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적 </a:t>
            </a:r>
            <a:r>
              <a:rPr lang="en-US" altLang="ko-KR" sz="1400" dirty="0"/>
              <a:t>AI </a:t>
            </a:r>
            <a:r>
              <a:rPr lang="ko-KR" altLang="en-US" sz="1400" dirty="0"/>
              <a:t>감지</a:t>
            </a:r>
            <a:r>
              <a:rPr lang="en-US" altLang="ko-KR" sz="1400" dirty="0"/>
              <a:t>, </a:t>
            </a:r>
            <a:r>
              <a:rPr lang="ko-KR" altLang="en-US" sz="1400" dirty="0"/>
              <a:t>진입</a:t>
            </a:r>
            <a:r>
              <a:rPr lang="en-US" altLang="ko-KR" sz="1400" dirty="0"/>
              <a:t>, </a:t>
            </a:r>
            <a:r>
              <a:rPr lang="ko-KR" altLang="en-US" sz="1400" dirty="0"/>
              <a:t>이동</a:t>
            </a:r>
            <a:r>
              <a:rPr lang="en-US" altLang="ko-KR" sz="1400" dirty="0"/>
              <a:t>, </a:t>
            </a:r>
            <a:r>
              <a:rPr lang="ko-KR" altLang="en-US" sz="1400" dirty="0"/>
              <a:t>해제</a:t>
            </a:r>
            <a:r>
              <a:rPr lang="en-US" altLang="ko-KR" sz="1400" dirty="0"/>
              <a:t> </a:t>
            </a:r>
            <a:r>
              <a:rPr lang="ko-KR" altLang="en-US" sz="1400" dirty="0"/>
              <a:t>및 애니메이션 구현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적 생성 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Wave </a:t>
            </a:r>
            <a:r>
              <a:rPr lang="ko-KR" altLang="en-US" sz="1400" dirty="0" err="1"/>
              <a:t>스폰과</a:t>
            </a:r>
            <a:r>
              <a:rPr lang="ko-KR" altLang="en-US" sz="1400" dirty="0"/>
              <a:t> </a:t>
            </a:r>
            <a:r>
              <a:rPr lang="en-US" altLang="ko-KR" sz="1400" dirty="0"/>
              <a:t>AI </a:t>
            </a:r>
            <a:r>
              <a:rPr lang="ko-KR" altLang="en-US" sz="1400" dirty="0"/>
              <a:t>추적</a:t>
            </a:r>
            <a:r>
              <a:rPr lang="en-US" altLang="ko-KR" sz="1400" dirty="0"/>
              <a:t>, </a:t>
            </a:r>
            <a:r>
              <a:rPr lang="ko-KR" altLang="en-US" sz="1400" dirty="0"/>
              <a:t>공격 구현 달성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총기 데이터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Pistol, Rifle, Shot Gun  </a:t>
            </a:r>
            <a:r>
              <a:rPr lang="ko-KR" altLang="en-US" sz="1400" dirty="0"/>
              <a:t>및 주요 능력치 데이터화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탄약 재 장전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탄약 소모</a:t>
            </a:r>
            <a:r>
              <a:rPr lang="en-US" altLang="ko-KR" sz="1400" dirty="0"/>
              <a:t>, </a:t>
            </a:r>
            <a:r>
              <a:rPr lang="ko-KR" altLang="en-US" sz="1400" dirty="0"/>
              <a:t>재장전 </a:t>
            </a:r>
            <a:r>
              <a:rPr lang="en-US" altLang="ko-KR" sz="1400" dirty="0"/>
              <a:t>Montage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AnimationNotify</a:t>
            </a:r>
            <a:r>
              <a:rPr lang="en-US" altLang="ko-KR" sz="1400" dirty="0"/>
              <a:t> </a:t>
            </a:r>
            <a:r>
              <a:rPr lang="ko-KR" altLang="en-US" sz="1400" dirty="0"/>
              <a:t>구현 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무기 파츠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 err="1"/>
              <a:t>조준경</a:t>
            </a:r>
            <a:r>
              <a:rPr lang="en-US" altLang="ko-KR" sz="1400" dirty="0"/>
              <a:t>, </a:t>
            </a:r>
            <a:r>
              <a:rPr lang="ko-KR" altLang="en-US" sz="1400" dirty="0"/>
              <a:t>탄창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총구등</a:t>
            </a:r>
            <a:r>
              <a:rPr lang="ko-KR" altLang="en-US" sz="1400" dirty="0"/>
              <a:t> 독립적 장착 및 효과 </a:t>
            </a:r>
            <a:r>
              <a:rPr lang="en-US" altLang="ko-KR" sz="1400" dirty="0"/>
              <a:t>–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미구현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공격</a:t>
            </a:r>
            <a:r>
              <a:rPr lang="en-US" altLang="ko-KR" sz="1400" dirty="0"/>
              <a:t>, </a:t>
            </a:r>
            <a:r>
              <a:rPr lang="ko-KR" altLang="en-US" sz="1400" dirty="0"/>
              <a:t>충돌</a:t>
            </a:r>
            <a:r>
              <a:rPr lang="en-US" altLang="ko-KR" sz="1400" dirty="0"/>
              <a:t>, </a:t>
            </a:r>
            <a:r>
              <a:rPr lang="ko-KR" altLang="en-US" sz="1400" dirty="0"/>
              <a:t>피격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 err="1"/>
              <a:t>투자체</a:t>
            </a:r>
            <a:r>
              <a:rPr lang="ko-KR" altLang="en-US" sz="1400" dirty="0"/>
              <a:t> 피격 처리 구현</a:t>
            </a:r>
            <a:r>
              <a:rPr lang="en-US" altLang="ko-KR" sz="1400" dirty="0"/>
              <a:t>(</a:t>
            </a:r>
            <a:r>
              <a:rPr lang="ko-KR" altLang="en-US" sz="1400" dirty="0"/>
              <a:t>달성</a:t>
            </a:r>
            <a:r>
              <a:rPr lang="en-US" altLang="ko-KR" sz="1400" dirty="0"/>
              <a:t>)</a:t>
            </a:r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41606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316386-7E38-9B76-C230-2D2483831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7155"/>
            <a:ext cx="10515600" cy="493171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1400" dirty="0"/>
              <a:t>UI</a:t>
            </a:r>
          </a:p>
          <a:p>
            <a:pPr lvl="1">
              <a:buFontTx/>
              <a:buChar char="-"/>
            </a:pPr>
            <a:r>
              <a:rPr lang="en-US" altLang="ko-KR" sz="1000" dirty="0"/>
              <a:t>HUD, </a:t>
            </a:r>
            <a:r>
              <a:rPr lang="ko-KR" altLang="en-US" sz="1000" dirty="0"/>
              <a:t>상태</a:t>
            </a:r>
            <a:r>
              <a:rPr lang="en-US" altLang="ko-KR" sz="1000" dirty="0"/>
              <a:t>, </a:t>
            </a:r>
            <a:r>
              <a:rPr lang="ko-KR" altLang="en-US" sz="1000" dirty="0"/>
              <a:t>진행 및 결과 화면 구성 구현</a:t>
            </a:r>
            <a:r>
              <a:rPr lang="en-US" altLang="ko-KR" sz="1000" dirty="0"/>
              <a:t>(</a:t>
            </a:r>
            <a:r>
              <a:rPr lang="ko-KR" altLang="en-US" sz="1000" dirty="0"/>
              <a:t>달성</a:t>
            </a:r>
            <a:r>
              <a:rPr lang="en-US" altLang="ko-KR" sz="1000" dirty="0"/>
              <a:t>)</a:t>
            </a:r>
          </a:p>
          <a:p>
            <a:pPr>
              <a:buFontTx/>
              <a:buChar char="-"/>
            </a:pPr>
            <a:r>
              <a:rPr lang="ko-KR" altLang="en-US" sz="1400" dirty="0"/>
              <a:t>데이터 기반 설정</a:t>
            </a:r>
            <a:endParaRPr lang="en-US" altLang="ko-KR" sz="1400" dirty="0"/>
          </a:p>
          <a:p>
            <a:pPr lvl="1">
              <a:buFontTx/>
              <a:buChar char="-"/>
            </a:pPr>
            <a:r>
              <a:rPr lang="en-US" altLang="ko-KR" sz="1000" dirty="0" err="1"/>
              <a:t>DataAsset</a:t>
            </a:r>
            <a:r>
              <a:rPr lang="en-US" altLang="ko-KR" sz="1000" dirty="0"/>
              <a:t> </a:t>
            </a:r>
            <a:r>
              <a:rPr lang="ko-KR" altLang="en-US" sz="1000" dirty="0"/>
              <a:t>및 </a:t>
            </a:r>
            <a:r>
              <a:rPr lang="en-US" altLang="ko-KR" sz="1000" dirty="0" err="1"/>
              <a:t>DataTable</a:t>
            </a:r>
            <a:r>
              <a:rPr lang="en-US" altLang="ko-KR" sz="1000" dirty="0"/>
              <a:t> </a:t>
            </a:r>
            <a:r>
              <a:rPr lang="ko-KR" altLang="en-US" sz="1000" dirty="0"/>
              <a:t>적용 </a:t>
            </a:r>
            <a:r>
              <a:rPr lang="en-US" altLang="ko-KR" sz="1000" dirty="0"/>
              <a:t>(</a:t>
            </a:r>
            <a:r>
              <a:rPr lang="ko-KR" altLang="en-US" sz="1000" dirty="0"/>
              <a:t>달성</a:t>
            </a:r>
            <a:r>
              <a:rPr lang="en-US" altLang="ko-KR" sz="1000" dirty="0"/>
              <a:t>)</a:t>
            </a:r>
          </a:p>
          <a:p>
            <a:pPr>
              <a:buFontTx/>
              <a:buChar char="-"/>
            </a:pPr>
            <a:r>
              <a:rPr lang="ko-KR" altLang="en-US" sz="1400" dirty="0"/>
              <a:t>추가 성과</a:t>
            </a:r>
            <a:endParaRPr lang="en-US" altLang="ko-KR" sz="1400" dirty="0"/>
          </a:p>
          <a:p>
            <a:pPr lvl="1">
              <a:buFontTx/>
              <a:buChar char="-"/>
            </a:pPr>
            <a:r>
              <a:rPr lang="ko-KR" altLang="en-US" sz="1000" dirty="0"/>
              <a:t>적 변종</a:t>
            </a:r>
            <a:r>
              <a:rPr lang="en-US" altLang="ko-KR" sz="1000" dirty="0"/>
              <a:t>, </a:t>
            </a:r>
            <a:r>
              <a:rPr lang="ko-KR" altLang="en-US" sz="1000" dirty="0"/>
              <a:t>보스</a:t>
            </a:r>
            <a:r>
              <a:rPr lang="en-US" altLang="ko-KR" sz="1000" dirty="0"/>
              <a:t>, </a:t>
            </a:r>
            <a:r>
              <a:rPr lang="ko-KR" altLang="en-US" sz="1000" dirty="0"/>
              <a:t>성장 보상</a:t>
            </a:r>
            <a:r>
              <a:rPr lang="en-US" altLang="ko-KR" sz="1000" dirty="0"/>
              <a:t>, GAS </a:t>
            </a:r>
            <a:r>
              <a:rPr lang="ko-KR" altLang="en-US" sz="1000" dirty="0"/>
              <a:t>데미지 처리 구현</a:t>
            </a:r>
            <a:endParaRPr lang="en-US" altLang="ko-KR" sz="1000" dirty="0"/>
          </a:p>
          <a:p>
            <a:pPr lvl="1">
              <a:buFontTx/>
              <a:buChar char="-"/>
            </a:pPr>
            <a:endParaRPr lang="en-US" altLang="ko-KR" sz="1000" dirty="0"/>
          </a:p>
          <a:p>
            <a:endParaRPr lang="en-US" altLang="ko-KR" sz="1400" dirty="0"/>
          </a:p>
          <a:p>
            <a:r>
              <a:rPr lang="ko-KR" altLang="en-US" sz="1400" dirty="0"/>
              <a:t>핵심 플레이 요소 개발</a:t>
            </a:r>
            <a:endParaRPr lang="en-US" altLang="ko-KR" sz="1400" dirty="0"/>
          </a:p>
          <a:p>
            <a:pPr lvl="1"/>
            <a:r>
              <a:rPr lang="ko-KR" altLang="en-US" sz="1000" dirty="0"/>
              <a:t>플레이 흐름</a:t>
            </a:r>
            <a:r>
              <a:rPr lang="en-US" altLang="ko-KR" sz="1000" dirty="0"/>
              <a:t>, </a:t>
            </a:r>
            <a:r>
              <a:rPr lang="ko-KR" altLang="en-US" sz="1000" dirty="0"/>
              <a:t>캐릭터 조작</a:t>
            </a:r>
            <a:r>
              <a:rPr lang="en-US" altLang="ko-KR" sz="1000" dirty="0"/>
              <a:t>, </a:t>
            </a:r>
            <a:r>
              <a:rPr lang="ko-KR" altLang="en-US" sz="1000" dirty="0"/>
              <a:t>적 생성 및 </a:t>
            </a:r>
            <a:r>
              <a:rPr lang="en-US" altLang="ko-KR" sz="1000" dirty="0"/>
              <a:t>AI,</a:t>
            </a:r>
            <a:r>
              <a:rPr lang="ko-KR" altLang="en-US" sz="1000" dirty="0"/>
              <a:t> 몬스터 확장</a:t>
            </a:r>
            <a:r>
              <a:rPr lang="en-US" altLang="ko-KR" sz="1000" dirty="0"/>
              <a:t>, </a:t>
            </a:r>
            <a:r>
              <a:rPr lang="ko-KR" altLang="en-US" sz="1000" dirty="0"/>
              <a:t>보스</a:t>
            </a:r>
            <a:r>
              <a:rPr lang="en-US" altLang="ko-KR" sz="1000" dirty="0"/>
              <a:t>/</a:t>
            </a:r>
            <a:r>
              <a:rPr lang="ko-KR" altLang="en-US" sz="1000" dirty="0"/>
              <a:t>특수 행동 구현 등 핵심 플레이 요소들을 개발 하였으며</a:t>
            </a:r>
            <a:r>
              <a:rPr lang="en-US" altLang="ko-KR" sz="1000" dirty="0"/>
              <a:t>, </a:t>
            </a:r>
            <a:r>
              <a:rPr lang="ko-KR" altLang="en-US" sz="1000" dirty="0"/>
              <a:t>적 변종 및 보스 조건 등을 추가 하였습니다</a:t>
            </a:r>
            <a:r>
              <a:rPr lang="en-US" altLang="ko-KR" sz="1000" dirty="0"/>
              <a:t>.</a:t>
            </a:r>
          </a:p>
          <a:p>
            <a:r>
              <a:rPr lang="ko-KR" altLang="en-US" sz="1400" dirty="0"/>
              <a:t>전투</a:t>
            </a:r>
            <a:r>
              <a:rPr lang="en-US" altLang="ko-KR" sz="1400" dirty="0"/>
              <a:t>, UI,</a:t>
            </a:r>
            <a:r>
              <a:rPr lang="ko-KR" altLang="en-US" sz="1400" dirty="0"/>
              <a:t> </a:t>
            </a:r>
            <a:r>
              <a:rPr lang="en-US" altLang="ko-KR" sz="1400" dirty="0"/>
              <a:t> </a:t>
            </a:r>
            <a:r>
              <a:rPr lang="ko-KR" altLang="en-US" sz="1400" dirty="0"/>
              <a:t>데이터 구조 결과</a:t>
            </a:r>
            <a:endParaRPr lang="en-US" altLang="ko-KR" sz="1400" dirty="0"/>
          </a:p>
          <a:p>
            <a:pPr lvl="1"/>
            <a:r>
              <a:rPr lang="ko-KR" altLang="en-US" sz="1000" dirty="0"/>
              <a:t>무기 파츠는 제외 하였으나</a:t>
            </a:r>
            <a:r>
              <a:rPr lang="en-US" altLang="ko-KR" sz="1000" dirty="0"/>
              <a:t>,</a:t>
            </a:r>
            <a:r>
              <a:rPr lang="ko-KR" altLang="en-US" sz="1000" dirty="0"/>
              <a:t> 무기 능력치와 공격 구조를 데이터 기반으로 분리 하여 이후 확장 할 수 있는 구조로 만들었습니다</a:t>
            </a:r>
            <a:r>
              <a:rPr lang="en-US" altLang="ko-KR" sz="1000" dirty="0"/>
              <a:t>.</a:t>
            </a:r>
          </a:p>
          <a:p>
            <a:r>
              <a:rPr lang="en-US" altLang="ko-KR" sz="1400" dirty="0"/>
              <a:t>GAS </a:t>
            </a:r>
            <a:r>
              <a:rPr lang="ko-KR" altLang="en-US" sz="1400" dirty="0"/>
              <a:t>데미지 처리 구현</a:t>
            </a:r>
            <a:endParaRPr lang="en-US" altLang="ko-KR" sz="1400" dirty="0"/>
          </a:p>
          <a:p>
            <a:pPr lvl="1"/>
            <a:r>
              <a:rPr lang="en-US" altLang="ko-KR" sz="1000" dirty="0"/>
              <a:t> </a:t>
            </a:r>
            <a:r>
              <a:rPr lang="ko-KR" altLang="en-US" sz="1000" dirty="0"/>
              <a:t>좀비에  </a:t>
            </a:r>
            <a:r>
              <a:rPr lang="en-US" altLang="ko-KR" sz="1000" dirty="0"/>
              <a:t>GAS(GAMEPLAY ABILITY SYSTEM)</a:t>
            </a:r>
            <a:r>
              <a:rPr lang="ko-KR" altLang="en-US" sz="1000" dirty="0"/>
              <a:t>을 적용 하여 </a:t>
            </a:r>
            <a:r>
              <a:rPr lang="en-US" altLang="ko-KR" sz="1000" dirty="0"/>
              <a:t>ASC(Ability System Component)</a:t>
            </a:r>
            <a:r>
              <a:rPr lang="ko-KR" altLang="en-US" sz="1000" dirty="0"/>
              <a:t>와 </a:t>
            </a:r>
            <a:r>
              <a:rPr lang="en-US" altLang="ko-KR" sz="1000" dirty="0" err="1"/>
              <a:t>AttributeSet</a:t>
            </a:r>
            <a:r>
              <a:rPr lang="ko-KR" altLang="en-US" sz="1000" dirty="0"/>
              <a:t>을 적용 투사체 </a:t>
            </a:r>
            <a:r>
              <a:rPr lang="ko-KR" altLang="en-US" sz="1000" dirty="0" err="1"/>
              <a:t>충돌시</a:t>
            </a:r>
            <a:r>
              <a:rPr lang="ko-KR" altLang="en-US" sz="1000" dirty="0"/>
              <a:t> </a:t>
            </a:r>
            <a:r>
              <a:rPr lang="en-US" altLang="ko-KR" sz="1000" dirty="0"/>
              <a:t>Bone</a:t>
            </a:r>
            <a:r>
              <a:rPr lang="ko-KR" altLang="en-US" sz="1000" dirty="0"/>
              <a:t>정보 또는 피격 높이로 </a:t>
            </a:r>
            <a:r>
              <a:rPr lang="en-US" altLang="ko-KR" sz="1000" dirty="0"/>
              <a:t>Head Shot </a:t>
            </a:r>
            <a:r>
              <a:rPr lang="ko-KR" altLang="en-US" sz="1000" dirty="0"/>
              <a:t>여부 판정 </a:t>
            </a:r>
            <a:r>
              <a:rPr lang="en-US" altLang="ko-KR" sz="1000" dirty="0" err="1"/>
              <a:t>GameplayEffect</a:t>
            </a:r>
            <a:r>
              <a:rPr lang="ko-KR" altLang="en-US" sz="1000" dirty="0"/>
              <a:t>의 </a:t>
            </a:r>
            <a:r>
              <a:rPr lang="en-US" altLang="ko-KR" sz="1000" dirty="0" err="1"/>
              <a:t>SetByCaller</a:t>
            </a:r>
            <a:r>
              <a:rPr lang="en-US" altLang="ko-KR" sz="1000" dirty="0"/>
              <a:t> </a:t>
            </a:r>
            <a:r>
              <a:rPr lang="ko-KR" altLang="en-US" sz="1000" dirty="0"/>
              <a:t>값으로 데미지를 전달 </a:t>
            </a:r>
            <a:r>
              <a:rPr lang="en-US" altLang="ko-KR" sz="1000" dirty="0"/>
              <a:t>Head Shot </a:t>
            </a:r>
            <a:r>
              <a:rPr lang="en-US" altLang="ko-KR" sz="1000" dirty="0" err="1"/>
              <a:t>GameplayTag</a:t>
            </a:r>
            <a:r>
              <a:rPr lang="ko-KR" altLang="en-US" sz="1000" dirty="0"/>
              <a:t>와 데미지 </a:t>
            </a:r>
            <a:r>
              <a:rPr lang="en-US" altLang="ko-KR" sz="1000" dirty="0"/>
              <a:t>2</a:t>
            </a:r>
            <a:r>
              <a:rPr lang="ko-KR" altLang="en-US" sz="1000" dirty="0"/>
              <a:t>배율을 적용 하였습니다</a:t>
            </a:r>
            <a:r>
              <a:rPr lang="en-US" altLang="ko-KR" sz="1000" dirty="0"/>
              <a:t>. </a:t>
            </a:r>
            <a:br>
              <a:rPr lang="en-US" altLang="ko-KR" sz="1000" dirty="0"/>
            </a:br>
            <a:r>
              <a:rPr lang="en-US" altLang="ko-KR" sz="1000" dirty="0"/>
              <a:t>ASC</a:t>
            </a:r>
            <a:r>
              <a:rPr lang="ko-KR" altLang="en-US" sz="1000" dirty="0"/>
              <a:t> 미 적용 대상은 무기의 기본 데미지와 같게 처리 하였습니다</a:t>
            </a:r>
            <a:r>
              <a:rPr lang="en-US" altLang="ko-KR" sz="1000" dirty="0"/>
              <a:t>.</a:t>
            </a:r>
          </a:p>
          <a:p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327712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DE770E-1E8D-3DA7-8B94-615BFDC947A3}"/>
              </a:ext>
            </a:extLst>
          </p:cNvPr>
          <p:cNvSpPr txBox="1"/>
          <p:nvPr/>
        </p:nvSpPr>
        <p:spPr>
          <a:xfrm>
            <a:off x="709250" y="817653"/>
            <a:ext cx="9280948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50" b="1" dirty="0">
                <a:solidFill/>
              </a:rPr>
              <a:t>3. </a:t>
            </a:r>
            <a:r>
              <a:rPr lang="ko-KR" altLang="en-US" sz="1850" b="1" dirty="0"/>
              <a:t>성과 </a:t>
            </a:r>
            <a:r>
              <a:rPr lang="en-US" altLang="ko-KR" sz="1850" b="1" dirty="0"/>
              <a:t>(</a:t>
            </a:r>
            <a:r>
              <a:rPr lang="ko-KR" altLang="en-US" sz="1850" b="1" dirty="0"/>
              <a:t>기대효과 대비 달성한 내용 작성</a:t>
            </a:r>
            <a:r>
              <a:rPr lang="en-US" altLang="ko-KR" sz="1850" b="1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41EE56-C0FB-C910-EF01-5995E7F9D9FF}"/>
              </a:ext>
            </a:extLst>
          </p:cNvPr>
          <p:cNvSpPr txBox="1"/>
          <p:nvPr/>
        </p:nvSpPr>
        <p:spPr>
          <a:xfrm>
            <a:off x="709250" y="1194038"/>
            <a:ext cx="102330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>
                <a:solidFill/>
              </a:rPr>
              <a:t>계획에 포함된 핵심 플레이 루프</a:t>
            </a:r>
            <a:r>
              <a:rPr lang="en-US" altLang="ko-KR" sz="1400" dirty="0"/>
              <a:t>, </a:t>
            </a:r>
            <a:r>
              <a:rPr lang="ko-KR" altLang="en-US" sz="1400" dirty="0"/>
              <a:t>조작</a:t>
            </a:r>
            <a:r>
              <a:rPr lang="en-US" altLang="ko-KR" sz="1400" dirty="0"/>
              <a:t>, AI, </a:t>
            </a:r>
            <a:r>
              <a:rPr lang="ko-KR" altLang="en-US" sz="1400" dirty="0"/>
              <a:t>총기</a:t>
            </a:r>
            <a:r>
              <a:rPr lang="en-US" altLang="ko-KR" sz="1400" dirty="0"/>
              <a:t>, </a:t>
            </a:r>
            <a:r>
              <a:rPr lang="ko-KR" altLang="en-US" sz="1400" dirty="0"/>
              <a:t>재장전</a:t>
            </a:r>
            <a:r>
              <a:rPr lang="en-US" altLang="ko-KR" sz="1400" dirty="0"/>
              <a:t>, </a:t>
            </a:r>
            <a:r>
              <a:rPr lang="ko-KR" altLang="en-US" sz="1400" dirty="0"/>
              <a:t>공격</a:t>
            </a:r>
            <a:r>
              <a:rPr lang="en-US" altLang="ko-KR" sz="1400" dirty="0"/>
              <a:t>, UI</a:t>
            </a:r>
            <a:r>
              <a:rPr lang="ko-KR" altLang="en-US" sz="1400" dirty="0"/>
              <a:t>와 데이터 기반 설정을 대부분 달성 하였습니다</a:t>
            </a:r>
            <a:r>
              <a:rPr lang="en-US" altLang="ko-KR" sz="1400" dirty="0"/>
              <a:t>.</a:t>
            </a:r>
          </a:p>
          <a:p>
            <a:pPr marL="285750" indent="-285750">
              <a:buFontTx/>
              <a:buChar char="-"/>
            </a:pPr>
            <a:r>
              <a:rPr lang="ko-KR" altLang="en-US" sz="1400" dirty="0"/>
              <a:t>무기 파츠는 </a:t>
            </a:r>
            <a:r>
              <a:rPr lang="ko-KR" altLang="en-US" sz="1400" dirty="0" err="1"/>
              <a:t>미구현</a:t>
            </a:r>
            <a:r>
              <a:rPr lang="ko-KR" altLang="en-US" sz="1400" dirty="0"/>
              <a:t> 상태이지만 과제의 핵심 목적인 </a:t>
            </a:r>
            <a:r>
              <a:rPr lang="en-US" altLang="ko-KR" sz="1400" dirty="0"/>
              <a:t>Unreal Engine</a:t>
            </a:r>
            <a:r>
              <a:rPr lang="ko-KR" altLang="en-US" sz="1400" dirty="0"/>
              <a:t>기반 실시간 액션 콘텐츠 제작 구조와</a:t>
            </a:r>
            <a:r>
              <a:rPr lang="en-US" altLang="ko-KR" sz="1400" dirty="0"/>
              <a:t>  Unreal C++</a:t>
            </a:r>
            <a:r>
              <a:rPr lang="ko-KR" altLang="en-US" sz="1400" dirty="0"/>
              <a:t>과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간의 연계 작업을 파악 하여 프로젝트 작업 역량을 높였습니다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4A8B04-132D-6E2A-4AC4-A6C345D75C13}"/>
              </a:ext>
            </a:extLst>
          </p:cNvPr>
          <p:cNvSpPr txBox="1"/>
          <p:nvPr/>
        </p:nvSpPr>
        <p:spPr>
          <a:xfrm>
            <a:off x="709250" y="3213888"/>
            <a:ext cx="8509014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46" b="1" dirty="0"/>
              <a:t>4. </a:t>
            </a:r>
            <a:r>
              <a:rPr lang="ko-KR" altLang="en-US" sz="1846" b="1" dirty="0"/>
              <a:t>업무일정 </a:t>
            </a:r>
            <a:r>
              <a:rPr lang="en-US" altLang="ko-KR" sz="1846" b="1" dirty="0"/>
              <a:t>(</a:t>
            </a:r>
            <a:r>
              <a:rPr lang="ko-KR" altLang="en-US" sz="1846" b="1" dirty="0"/>
              <a:t>실제 업무 일정</a:t>
            </a:r>
            <a:r>
              <a:rPr lang="en-US" altLang="ko-KR" sz="1846" b="1" dirty="0"/>
              <a:t>)</a:t>
            </a:r>
            <a:endParaRPr lang="ko-KR" altLang="en-US" sz="1846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97E7C-0D9C-4B1F-083D-4D6AE09C9CE6}"/>
              </a:ext>
            </a:extLst>
          </p:cNvPr>
          <p:cNvSpPr txBox="1"/>
          <p:nvPr/>
        </p:nvSpPr>
        <p:spPr>
          <a:xfrm>
            <a:off x="709250" y="3590273"/>
            <a:ext cx="102330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/>
              <a:t>2026.07.14~07.20	</a:t>
            </a:r>
            <a:r>
              <a:rPr lang="ko-KR" altLang="en-US" sz="1400" dirty="0"/>
              <a:t>투사체 전투 기반 구현 </a:t>
            </a:r>
            <a:r>
              <a:rPr lang="en-US" altLang="ko-KR" sz="1400" dirty="0"/>
              <a:t>- </a:t>
            </a:r>
            <a:r>
              <a:rPr lang="ko-KR" altLang="en-US" sz="1400" dirty="0"/>
              <a:t>투사체 생성과 </a:t>
            </a:r>
            <a:r>
              <a:rPr lang="en-US" altLang="ko-KR" sz="1400" dirty="0"/>
              <a:t>Object Pool </a:t>
            </a:r>
            <a:r>
              <a:rPr lang="ko-KR" altLang="en-US" sz="1400" dirty="0"/>
              <a:t>적용</a:t>
            </a:r>
            <a:r>
              <a:rPr lang="en-US" altLang="ko-KR" sz="1400" dirty="0"/>
              <a:t>, </a:t>
            </a:r>
            <a:r>
              <a:rPr lang="ko-KR" altLang="en-US" sz="1400" dirty="0"/>
              <a:t>캐릭터 투사체 충돌 처리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2026.07.22~07.25	TPS </a:t>
            </a:r>
            <a:r>
              <a:rPr lang="ko-KR" altLang="en-US" sz="1400" dirty="0"/>
              <a:t>조준 및 발사 보완 </a:t>
            </a:r>
            <a:r>
              <a:rPr lang="en-US" altLang="ko-KR" sz="1400" dirty="0"/>
              <a:t>– TPS Aim </a:t>
            </a:r>
            <a:r>
              <a:rPr lang="ko-KR" altLang="en-US" sz="1400" dirty="0"/>
              <a:t>방향과 투사체 발사 오류 수정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2026.07.27~07.31	</a:t>
            </a:r>
            <a:r>
              <a:rPr lang="ko-KR" altLang="en-US" sz="1400" dirty="0"/>
              <a:t>데이터 및 게임 진행 구조 정리 </a:t>
            </a:r>
            <a:r>
              <a:rPr lang="en-US" altLang="ko-KR" sz="1400" dirty="0"/>
              <a:t>– </a:t>
            </a:r>
            <a:r>
              <a:rPr lang="en-US" altLang="ko-KR" sz="1400" dirty="0" err="1"/>
              <a:t>DataTable</a:t>
            </a:r>
            <a:r>
              <a:rPr lang="en-US" altLang="ko-KR" sz="1400" dirty="0"/>
              <a:t> </a:t>
            </a:r>
            <a:r>
              <a:rPr lang="ko-KR" altLang="en-US" sz="1400" dirty="0"/>
              <a:t>적용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GameMode</a:t>
            </a:r>
            <a:r>
              <a:rPr lang="ko-KR" altLang="en-US" sz="1400" dirty="0"/>
              <a:t> 구성</a:t>
            </a:r>
            <a:r>
              <a:rPr lang="en-US" altLang="ko-KR" sz="1400" dirty="0"/>
              <a:t>, </a:t>
            </a:r>
            <a:r>
              <a:rPr lang="ko-KR" altLang="en-US" sz="1400" dirty="0"/>
              <a:t>시작 전 이동 오류 수정 등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2026.08.03~08.07	Stage UI Ai </a:t>
            </a:r>
            <a:r>
              <a:rPr lang="ko-KR" altLang="en-US" sz="1400" dirty="0"/>
              <a:t>통합</a:t>
            </a:r>
            <a:r>
              <a:rPr lang="en-US" altLang="ko-KR" sz="1400" dirty="0"/>
              <a:t> – Stage Clear, HUD, </a:t>
            </a:r>
            <a:r>
              <a:rPr lang="ko-KR" altLang="en-US" sz="1400" dirty="0"/>
              <a:t>적 생성 수와 </a:t>
            </a:r>
            <a:r>
              <a:rPr lang="en-US" altLang="ko-KR" sz="1400" dirty="0"/>
              <a:t>Ai </a:t>
            </a:r>
            <a:r>
              <a:rPr lang="ko-KR" altLang="en-US" sz="1400" dirty="0"/>
              <a:t>동작 수정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2026.08.10~08.12 	</a:t>
            </a:r>
            <a:r>
              <a:rPr lang="ko-KR" altLang="en-US" sz="1400" dirty="0"/>
              <a:t>아이템 드랍 및 엄폐 기반 구현 </a:t>
            </a:r>
            <a:r>
              <a:rPr lang="en-US" altLang="ko-KR" sz="1400" dirty="0"/>
              <a:t>– </a:t>
            </a:r>
            <a:r>
              <a:rPr lang="ko-KR" altLang="en-US" sz="1400" dirty="0"/>
              <a:t>적 무기 드랍 및</a:t>
            </a:r>
            <a:r>
              <a:rPr lang="en-US" altLang="ko-KR" sz="1400" dirty="0"/>
              <a:t> </a:t>
            </a:r>
            <a:r>
              <a:rPr lang="ko-KR" altLang="en-US" sz="1400" dirty="0"/>
              <a:t>업폐기능과 애니메이션 추가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2026.08.14~08.21	HUD</a:t>
            </a:r>
            <a:r>
              <a:rPr lang="ko-KR" altLang="en-US" sz="1400" dirty="0"/>
              <a:t> 상호 작용 보완</a:t>
            </a:r>
            <a:r>
              <a:rPr lang="en-US" altLang="ko-KR" sz="1400" dirty="0"/>
              <a:t>, TPS </a:t>
            </a:r>
            <a:r>
              <a:rPr lang="ko-KR" altLang="en-US" sz="1400" dirty="0"/>
              <a:t>애니메이션 및 아이템 보완</a:t>
            </a:r>
            <a:r>
              <a:rPr lang="en-US" altLang="ko-KR" sz="1400" dirty="0"/>
              <a:t> – HUD</a:t>
            </a:r>
            <a:r>
              <a:rPr lang="ko-KR" altLang="en-US" sz="1400" dirty="0"/>
              <a:t>정보 갱신</a:t>
            </a:r>
            <a:r>
              <a:rPr lang="en-US" altLang="ko-KR" sz="1400" dirty="0"/>
              <a:t> </a:t>
            </a:r>
            <a:r>
              <a:rPr lang="ko-KR" altLang="en-US" sz="1400" dirty="0"/>
              <a:t>엄폐가능 블록 상호 작용 작업</a:t>
            </a:r>
            <a:br>
              <a:rPr lang="en-US" altLang="ko-KR" sz="1400" dirty="0"/>
            </a:br>
            <a:r>
              <a:rPr lang="ko-KR" altLang="en-US" sz="1400" dirty="0"/>
              <a:t>아이템 픽업 수정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2026.08.24~08.25 	</a:t>
            </a:r>
            <a:r>
              <a:rPr lang="ko-KR" altLang="en-US" sz="1400" dirty="0"/>
              <a:t>재장전 및 엄폐 오류 수정</a:t>
            </a:r>
            <a:r>
              <a:rPr lang="en-US" altLang="ko-KR" sz="1400" dirty="0"/>
              <a:t>, GAS </a:t>
            </a:r>
            <a:r>
              <a:rPr lang="ko-KR" altLang="en-US" sz="1400" dirty="0"/>
              <a:t>적용</a:t>
            </a:r>
            <a:r>
              <a:rPr lang="en-US" altLang="ko-KR" sz="1400" dirty="0"/>
              <a:t> – </a:t>
            </a:r>
            <a:r>
              <a:rPr lang="ko-KR" altLang="en-US" sz="1400" dirty="0"/>
              <a:t>재장전 </a:t>
            </a:r>
            <a:r>
              <a:rPr lang="en-US" altLang="ko-KR" sz="1400" dirty="0" err="1"/>
              <a:t>AnimationNotify</a:t>
            </a:r>
            <a:r>
              <a:rPr lang="ko-KR" altLang="en-US" sz="1400" dirty="0"/>
              <a:t>연동</a:t>
            </a:r>
            <a:r>
              <a:rPr lang="en-US" altLang="ko-KR" sz="1400" dirty="0"/>
              <a:t>, </a:t>
            </a:r>
            <a:r>
              <a:rPr lang="ko-KR" altLang="en-US" sz="1400" dirty="0"/>
              <a:t>엄폐 이동 오류 수정 및 </a:t>
            </a:r>
            <a:r>
              <a:rPr lang="en-US" altLang="ko-KR" sz="1400" dirty="0"/>
              <a:t>GAS </a:t>
            </a:r>
            <a:r>
              <a:rPr lang="ko-KR" altLang="en-US" sz="1400" dirty="0"/>
              <a:t>구현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2026.08.25~08.28	</a:t>
            </a:r>
            <a:r>
              <a:rPr lang="ko-KR" altLang="en-US" sz="1400" dirty="0"/>
              <a:t>테스트 및 오류 수정</a:t>
            </a:r>
            <a:r>
              <a:rPr lang="en-US" altLang="ko-KR" sz="1400" dirty="0"/>
              <a:t>  </a:t>
            </a:r>
            <a:endParaRPr lang="ko-KR" altLang="en-US" sz="1400" dirty="0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F8062DA-1F65-1753-D417-BA8233419894}"/>
              </a:ext>
            </a:extLst>
          </p:cNvPr>
          <p:cNvSpPr txBox="1"/>
          <p:nvPr/>
        </p:nvSpPr>
        <p:spPr>
          <a:xfrm>
            <a:off x="627057" y="402419"/>
            <a:ext cx="7857129" cy="377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50" b="1" dirty="0"/>
              <a:t>5. </a:t>
            </a:r>
            <a:r>
              <a:rPr lang="ko-KR" altLang="en-US" sz="1850" b="1" dirty="0"/>
              <a:t>업무결과 </a:t>
            </a:r>
            <a:r>
              <a:rPr lang="en-US" altLang="ko-KR" sz="1850" b="1" dirty="0"/>
              <a:t>(</a:t>
            </a:r>
            <a:r>
              <a:rPr lang="ko-KR" altLang="en-US" sz="1850" b="1" dirty="0"/>
              <a:t>결과물 첨부</a:t>
            </a:r>
            <a:r>
              <a:rPr lang="en-US" altLang="ko-KR" sz="1850" b="1" dirty="0"/>
              <a:t>)</a:t>
            </a:r>
            <a:endParaRPr lang="ko-KR" altLang="en-US" sz="18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62874-D03B-0409-59A1-62A15120165E}"/>
              </a:ext>
            </a:extLst>
          </p:cNvPr>
          <p:cNvSpPr txBox="1"/>
          <p:nvPr/>
        </p:nvSpPr>
        <p:spPr>
          <a:xfrm>
            <a:off x="762413" y="779445"/>
            <a:ext cx="10233097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sz="1400" dirty="0"/>
              <a:t>아키텍처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Unreal </a:t>
            </a:r>
            <a:r>
              <a:rPr lang="ko-KR" altLang="en-US" sz="1400" dirty="0"/>
              <a:t>엔진의</a:t>
            </a:r>
            <a:r>
              <a:rPr lang="en-US" altLang="ko-KR" sz="1400" dirty="0"/>
              <a:t> C++</a:t>
            </a:r>
            <a:r>
              <a:rPr lang="ko-KR" altLang="en-US" sz="1400" dirty="0"/>
              <a:t>과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를 병행 하는 구조로 구성 했습니다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게임의 핵심 적인 처리와 반복적으로 사용 되는 로직은 </a:t>
            </a:r>
            <a:r>
              <a:rPr lang="en-US" altLang="ko-KR" sz="1400" dirty="0"/>
              <a:t>C++</a:t>
            </a:r>
            <a:r>
              <a:rPr lang="ko-KR" altLang="en-US" sz="1400" dirty="0"/>
              <a:t>로 구현 하였 고 </a:t>
            </a:r>
            <a:r>
              <a:rPr lang="en-US" altLang="ko-KR" sz="1400" dirty="0"/>
              <a:t>Mesh, Animation, Widget, </a:t>
            </a:r>
            <a:r>
              <a:rPr lang="en-US" altLang="ko-KR" sz="1400" dirty="0" err="1"/>
              <a:t>DataTable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DataAsset</a:t>
            </a:r>
            <a:r>
              <a:rPr lang="en-US" altLang="ko-KR" sz="1400" dirty="0"/>
              <a:t> </a:t>
            </a:r>
            <a:r>
              <a:rPr lang="ko-KR" altLang="en-US" sz="1400" dirty="0"/>
              <a:t>등과 같은 컨텐츠는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를 이용 하여 </a:t>
            </a:r>
            <a:r>
              <a:rPr lang="en-US" altLang="ko-KR" sz="1400" dirty="0"/>
              <a:t>Unreal </a:t>
            </a:r>
            <a:r>
              <a:rPr lang="ko-KR" altLang="en-US" sz="1400" dirty="0"/>
              <a:t>엔진에서 관리 할 수 있게 만들었습니다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ko-KR" altLang="en-US" sz="1400" dirty="0"/>
              <a:t>전체 적인 컨텐츠 구성으로 캐릭터</a:t>
            </a:r>
            <a:r>
              <a:rPr lang="en-US" altLang="ko-KR" sz="1400" dirty="0"/>
              <a:t>, </a:t>
            </a:r>
            <a:r>
              <a:rPr lang="ko-KR" altLang="en-US" sz="1400" dirty="0"/>
              <a:t>좀비</a:t>
            </a:r>
            <a:r>
              <a:rPr lang="en-US" altLang="ko-KR" sz="1400" dirty="0"/>
              <a:t>, </a:t>
            </a:r>
            <a:r>
              <a:rPr lang="ko-KR" altLang="en-US" sz="1400" dirty="0"/>
              <a:t> 좀비 </a:t>
            </a:r>
            <a:r>
              <a:rPr lang="en-US" altLang="ko-KR" sz="1400" dirty="0"/>
              <a:t>Ai, </a:t>
            </a:r>
            <a:r>
              <a:rPr lang="ko-KR" altLang="en-US" sz="1400" dirty="0"/>
              <a:t>무기</a:t>
            </a:r>
            <a:r>
              <a:rPr lang="en-US" altLang="ko-KR" sz="1400" dirty="0"/>
              <a:t>, </a:t>
            </a:r>
            <a:r>
              <a:rPr lang="ko-KR" altLang="en-US" sz="1400" dirty="0"/>
              <a:t>전투</a:t>
            </a:r>
            <a:r>
              <a:rPr lang="en-US" altLang="ko-KR" sz="1400" dirty="0"/>
              <a:t>, </a:t>
            </a:r>
            <a:r>
              <a:rPr lang="ko-KR" altLang="en-US" sz="1400" dirty="0"/>
              <a:t>게임 진행</a:t>
            </a:r>
            <a:r>
              <a:rPr lang="en-US" altLang="ko-KR" sz="1400" dirty="0"/>
              <a:t>, UI, </a:t>
            </a:r>
            <a:r>
              <a:rPr lang="ko-KR" altLang="en-US" sz="1400" dirty="0"/>
              <a:t>데이터 관리</a:t>
            </a:r>
            <a:r>
              <a:rPr lang="en-US" altLang="ko-KR" sz="1400" dirty="0"/>
              <a:t>, GAS </a:t>
            </a:r>
            <a:r>
              <a:rPr lang="ko-KR" altLang="en-US" sz="1400" dirty="0"/>
              <a:t>데미지 처리 등이 있습니다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ko-KR" altLang="en-US" sz="1400" dirty="0"/>
              <a:t>핵심 </a:t>
            </a:r>
            <a:r>
              <a:rPr lang="en-US" altLang="ko-KR" sz="1400" dirty="0" err="1"/>
              <a:t>GamePlay</a:t>
            </a:r>
            <a:r>
              <a:rPr lang="en-US" altLang="ko-KR" sz="1400" dirty="0"/>
              <a:t> Blueprint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BP_Project_Z_GameMode</a:t>
            </a:r>
            <a:r>
              <a:rPr lang="en-US" altLang="ko-KR" sz="1400" dirty="0"/>
              <a:t> 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Aproject_Z_GameMode</a:t>
            </a:r>
            <a:r>
              <a:rPr lang="en-US" altLang="ko-KR" sz="1400" dirty="0"/>
              <a:t> 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게임 진행</a:t>
            </a:r>
            <a:r>
              <a:rPr lang="en-US" altLang="ko-KR" sz="1400" dirty="0"/>
              <a:t>, </a:t>
            </a:r>
            <a:r>
              <a:rPr lang="ko-KR" altLang="en-US" sz="1400" dirty="0"/>
              <a:t>적 </a:t>
            </a:r>
            <a:r>
              <a:rPr lang="ko-KR" altLang="en-US" sz="1400" dirty="0" err="1"/>
              <a:t>스폰</a:t>
            </a:r>
            <a:r>
              <a:rPr lang="en-US" altLang="ko-KR" sz="1400" dirty="0"/>
              <a:t>, Player,</a:t>
            </a:r>
            <a:r>
              <a:rPr lang="ko-KR" altLang="en-US" sz="1400" dirty="0"/>
              <a:t> </a:t>
            </a:r>
            <a:r>
              <a:rPr lang="en-US" altLang="ko-KR" sz="1400" dirty="0"/>
              <a:t>Controller</a:t>
            </a:r>
            <a:r>
              <a:rPr lang="ko-KR" altLang="en-US" sz="1400" dirty="0"/>
              <a:t> </a:t>
            </a:r>
            <a:r>
              <a:rPr lang="en-US" altLang="ko-KR" sz="1400" dirty="0"/>
              <a:t>Class </a:t>
            </a:r>
            <a:r>
              <a:rPr lang="ko-KR" altLang="en-US" sz="1400" dirty="0"/>
              <a:t>지정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BP_ZCharacter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AZCharacterBase</a:t>
            </a:r>
            <a:r>
              <a:rPr lang="en-US" altLang="ko-KR" sz="1400" dirty="0"/>
              <a:t> 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Player </a:t>
            </a:r>
            <a:r>
              <a:rPr lang="ko-KR" altLang="en-US" sz="1400" dirty="0"/>
              <a:t>이동 및 카메라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조준</a:t>
            </a:r>
            <a:r>
              <a:rPr lang="en-US" altLang="ko-KR" sz="1400" dirty="0"/>
              <a:t>, </a:t>
            </a:r>
            <a:r>
              <a:rPr lang="ko-KR" altLang="en-US" sz="1400" dirty="0"/>
              <a:t>총기 발사 및 재장전</a:t>
            </a:r>
            <a:r>
              <a:rPr lang="en-US" altLang="ko-KR" sz="1400" dirty="0"/>
              <a:t>, </a:t>
            </a:r>
            <a:r>
              <a:rPr lang="ko-KR" altLang="en-US" sz="1400" dirty="0"/>
              <a:t>엄폐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WeaponDataAsset</a:t>
            </a:r>
            <a:r>
              <a:rPr lang="ko-KR" altLang="en-US" sz="1400" dirty="0"/>
              <a:t> 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ABP_Zcharacter</a:t>
            </a:r>
            <a:r>
              <a:rPr lang="en-US" altLang="ko-KR" sz="1400" dirty="0"/>
              <a:t> </a:t>
            </a:r>
            <a:r>
              <a:rPr lang="ko-KR" altLang="en-US" sz="1400" dirty="0"/>
              <a:t>등과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로 연동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BP_Project_Z_PlayerController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AProject_Z_PlayerController</a:t>
            </a:r>
            <a:r>
              <a:rPr lang="en-US" altLang="ko-KR" sz="1400" dirty="0"/>
              <a:t> 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Player</a:t>
            </a:r>
            <a:r>
              <a:rPr lang="ko-KR" altLang="en-US" sz="1400" dirty="0"/>
              <a:t> 입력 모드 관리</a:t>
            </a:r>
            <a:r>
              <a:rPr lang="en-US" altLang="ko-KR" sz="1400" dirty="0"/>
              <a:t>, HUD </a:t>
            </a:r>
            <a:r>
              <a:rPr lang="ko-KR" altLang="en-US" sz="1400" dirty="0"/>
              <a:t>생성 및 표시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레벨업</a:t>
            </a:r>
            <a:r>
              <a:rPr lang="ko-KR" altLang="en-US" sz="1400" dirty="0"/>
              <a:t> </a:t>
            </a:r>
            <a:r>
              <a:rPr lang="en-US" altLang="ko-KR" sz="1400" dirty="0"/>
              <a:t>UI, Stage Clear, Game Over UI </a:t>
            </a:r>
            <a:r>
              <a:rPr lang="ko-KR" altLang="en-US" sz="1400" dirty="0"/>
              <a:t>관리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BP_Enemy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AZEnemyBase</a:t>
            </a:r>
            <a:r>
              <a:rPr lang="en-US" altLang="ko-KR" sz="1400" dirty="0"/>
              <a:t> 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Player </a:t>
            </a:r>
            <a:r>
              <a:rPr lang="ko-KR" altLang="en-US" sz="1400" dirty="0"/>
              <a:t>추적 및 공격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GAS(Gameplay Ability System)</a:t>
            </a:r>
            <a:r>
              <a:rPr lang="ko-KR" altLang="en-US" sz="1400" dirty="0"/>
              <a:t>을 이용한 피격 반응 및 사망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경험치 구슬 및 총기 드랍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DT_MonsterVariants</a:t>
            </a:r>
            <a:r>
              <a:rPr lang="en-US" altLang="ko-KR" sz="1400" dirty="0"/>
              <a:t> </a:t>
            </a:r>
            <a:r>
              <a:rPr lang="ko-KR" altLang="en-US" sz="1400" dirty="0"/>
              <a:t>와 연동 하여 좀비 등급 및  </a:t>
            </a:r>
            <a:r>
              <a:rPr lang="en-US" altLang="ko-KR" sz="1400" dirty="0"/>
              <a:t>HP, </a:t>
            </a:r>
            <a:r>
              <a:rPr lang="ko-KR" altLang="en-US" sz="1400" dirty="0"/>
              <a:t>이동속도</a:t>
            </a:r>
            <a:r>
              <a:rPr lang="en-US" altLang="ko-KR" sz="1400" dirty="0"/>
              <a:t>, </a:t>
            </a:r>
            <a:r>
              <a:rPr lang="ko-KR" altLang="en-US" sz="1400" dirty="0"/>
              <a:t>공격력</a:t>
            </a:r>
            <a:r>
              <a:rPr lang="en-US" altLang="ko-KR" sz="1400" dirty="0"/>
              <a:t>, </a:t>
            </a:r>
            <a:r>
              <a:rPr lang="ko-KR" altLang="en-US" sz="1400" dirty="0"/>
              <a:t>외형 등 설정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643758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1" dirty="0">
                <a:solidFill>
                  <a:srgbClr val="000000"/>
                </a:solidFill>
                <a:latin typeface="Malgun Gothic"/>
              </a:rPr>
              <a:t>5-1.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아키텍처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구현을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통한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역량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향상</a:t>
            </a:r>
            <a:endParaRPr sz="1800" b="1" dirty="0">
              <a:solidFill>
                <a:srgbClr val="000000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45920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sz="140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C++ </a:t>
            </a:r>
            <a:r>
              <a:rPr sz="1320" b="0" dirty="0" err="1">
                <a:solidFill>
                  <a:srgbClr val="000000"/>
                </a:solidFill>
              </a:rPr>
              <a:t>클래스와</a:t>
            </a:r>
            <a:r>
              <a:rPr sz="1320" b="0" dirty="0">
                <a:solidFill>
                  <a:srgbClr val="000000"/>
                </a:solidFill>
              </a:rPr>
              <a:t> Blueprint </a:t>
            </a:r>
            <a:r>
              <a:rPr sz="1320" b="0" dirty="0" err="1">
                <a:solidFill>
                  <a:srgbClr val="000000"/>
                </a:solidFill>
              </a:rPr>
              <a:t>Asset의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역할을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나누고</a:t>
            </a:r>
            <a:r>
              <a:rPr sz="1320" b="0" dirty="0">
                <a:solidFill>
                  <a:srgbClr val="000000"/>
                </a:solidFill>
              </a:rPr>
              <a:t>, 각 </a:t>
            </a:r>
            <a:r>
              <a:rPr sz="1320" b="0" dirty="0" err="1">
                <a:solidFill>
                  <a:srgbClr val="000000"/>
                </a:solidFill>
              </a:rPr>
              <a:t>시스템의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책임을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분리하는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경험을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확보했습니다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dirty="0">
              <a:solidFill>
                <a:srgbClr val="000000"/>
              </a:solidFill>
            </a:endParaRPr>
          </a:p>
          <a:p>
            <a:pPr>
              <a:defRPr sz="500"/>
            </a:pPr>
            <a:endParaRPr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</a:rPr>
              <a:t>수행한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내용</a:t>
            </a:r>
            <a:endParaRPr sz="140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20" b="0" dirty="0">
                <a:solidFill>
                  <a:srgbClr val="000000"/>
                </a:solidFill>
              </a:rPr>
              <a:t> </a:t>
            </a:r>
            <a:r>
              <a:rPr sz="1320" b="0" dirty="0">
                <a:solidFill>
                  <a:srgbClr val="000000"/>
                </a:solidFill>
              </a:rPr>
              <a:t>Character: </a:t>
            </a:r>
            <a:r>
              <a:rPr sz="1320" b="0" dirty="0" err="1">
                <a:solidFill>
                  <a:srgbClr val="000000"/>
                </a:solidFill>
              </a:rPr>
              <a:t>이동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조준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사격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재장전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엄폐</a:t>
            </a:r>
            <a:r>
              <a:rPr sz="1320" b="0" dirty="0">
                <a:solidFill>
                  <a:srgbClr val="000000"/>
                </a:solidFill>
              </a:rPr>
              <a:t> 등 </a:t>
            </a:r>
            <a:r>
              <a:rPr sz="1320" b="0" dirty="0" err="1">
                <a:solidFill>
                  <a:srgbClr val="000000"/>
                </a:solidFill>
              </a:rPr>
              <a:t>플레이어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동작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처리</a:t>
            </a: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PlayerController</a:t>
            </a:r>
            <a:r>
              <a:rPr sz="1320" b="0" dirty="0">
                <a:solidFill>
                  <a:srgbClr val="000000"/>
                </a:solidFill>
              </a:rPr>
              <a:t>: </a:t>
            </a:r>
            <a:r>
              <a:rPr sz="1320" b="0" dirty="0" err="1">
                <a:solidFill>
                  <a:srgbClr val="000000"/>
                </a:solidFill>
              </a:rPr>
              <a:t>입력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모드</a:t>
            </a:r>
            <a:r>
              <a:rPr sz="1320" b="0" dirty="0">
                <a:solidFill>
                  <a:srgbClr val="000000"/>
                </a:solidFill>
              </a:rPr>
              <a:t>, HUD </a:t>
            </a:r>
            <a:r>
              <a:rPr sz="1320" b="0" dirty="0" err="1">
                <a:solidFill>
                  <a:srgbClr val="000000"/>
                </a:solidFill>
              </a:rPr>
              <a:t>생성</a:t>
            </a:r>
            <a:r>
              <a:rPr sz="1320" b="0" dirty="0">
                <a:solidFill>
                  <a:srgbClr val="000000"/>
                </a:solidFill>
              </a:rPr>
              <a:t>, UI </a:t>
            </a:r>
            <a:r>
              <a:rPr sz="1320" b="0" dirty="0" err="1">
                <a:solidFill>
                  <a:srgbClr val="000000"/>
                </a:solidFill>
              </a:rPr>
              <a:t>전환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관리</a:t>
            </a: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GameMode</a:t>
            </a:r>
            <a:r>
              <a:rPr sz="1320" b="0" dirty="0">
                <a:solidFill>
                  <a:srgbClr val="000000"/>
                </a:solidFill>
              </a:rPr>
              <a:t>: Stage </a:t>
            </a:r>
            <a:r>
              <a:rPr sz="1320" b="0" dirty="0" err="1">
                <a:solidFill>
                  <a:srgbClr val="000000"/>
                </a:solidFill>
              </a:rPr>
              <a:t>진행</a:t>
            </a:r>
            <a:r>
              <a:rPr sz="1320" b="0" dirty="0">
                <a:solidFill>
                  <a:srgbClr val="000000"/>
                </a:solidFill>
              </a:rPr>
              <a:t>, 적 </a:t>
            </a:r>
            <a:r>
              <a:rPr sz="1320" b="0" dirty="0" err="1">
                <a:solidFill>
                  <a:srgbClr val="000000"/>
                </a:solidFill>
              </a:rPr>
              <a:t>생성</a:t>
            </a:r>
            <a:r>
              <a:rPr sz="1320" b="0" dirty="0">
                <a:solidFill>
                  <a:srgbClr val="000000"/>
                </a:solidFill>
              </a:rPr>
              <a:t>, Stage Clear, Game Over </a:t>
            </a:r>
            <a:r>
              <a:rPr sz="1320" b="0" dirty="0" err="1">
                <a:solidFill>
                  <a:srgbClr val="000000"/>
                </a:solidFill>
              </a:rPr>
              <a:t>흐름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관리</a:t>
            </a: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 Widget </a:t>
            </a:r>
            <a:r>
              <a:rPr sz="1320" b="0" dirty="0" err="1">
                <a:solidFill>
                  <a:srgbClr val="000000"/>
                </a:solidFill>
              </a:rPr>
              <a:t>계층</a:t>
            </a:r>
            <a:r>
              <a:rPr sz="1320" b="0" dirty="0">
                <a:solidFill>
                  <a:srgbClr val="000000"/>
                </a:solidFill>
              </a:rPr>
              <a:t>: HUD, </a:t>
            </a:r>
            <a:r>
              <a:rPr sz="1320" b="0" dirty="0" err="1">
                <a:solidFill>
                  <a:srgbClr val="000000"/>
                </a:solidFill>
              </a:rPr>
              <a:t>상태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표시</a:t>
            </a:r>
            <a:r>
              <a:rPr sz="1320" b="0" dirty="0">
                <a:solidFill>
                  <a:srgbClr val="000000"/>
                </a:solidFill>
              </a:rPr>
              <a:t>, Crosshair, </a:t>
            </a:r>
            <a:r>
              <a:rPr sz="1320" b="0" dirty="0" err="1">
                <a:solidFill>
                  <a:srgbClr val="000000"/>
                </a:solidFill>
              </a:rPr>
              <a:t>상호작용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표시로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역할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분리</a:t>
            </a:r>
            <a:endParaRPr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400" b="0" dirty="0" err="1">
                <a:solidFill>
                  <a:srgbClr val="000000"/>
                </a:solidFill>
              </a:rPr>
              <a:t>향상된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실무</a:t>
            </a:r>
            <a:r>
              <a:rPr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역량</a:t>
            </a:r>
            <a:endParaRPr lang="en-US" sz="140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</a:rPr>
              <a:t>Actor, Character, </a:t>
            </a:r>
            <a:r>
              <a:rPr lang="en-US" sz="1400" dirty="0" err="1">
                <a:solidFill>
                  <a:srgbClr val="000000"/>
                </a:solidFill>
              </a:rPr>
              <a:t>PlayerController</a:t>
            </a:r>
            <a:r>
              <a:rPr lang="en-US" sz="1400" dirty="0">
                <a:solidFill>
                  <a:srgbClr val="000000"/>
                </a:solidFill>
              </a:rPr>
              <a:t>, </a:t>
            </a:r>
            <a:r>
              <a:rPr lang="en-US" sz="1400" dirty="0" err="1">
                <a:solidFill>
                  <a:srgbClr val="000000"/>
                </a:solidFill>
              </a:rPr>
              <a:t>GameMode</a:t>
            </a:r>
            <a:r>
              <a:rPr lang="en-US" sz="1400" dirty="0">
                <a:solidFill>
                  <a:srgbClr val="000000"/>
                </a:solidFill>
              </a:rPr>
              <a:t>, Widget</a:t>
            </a:r>
            <a:r>
              <a:rPr lang="ko-KR" altLang="en-US" sz="1400" dirty="0">
                <a:solidFill>
                  <a:srgbClr val="000000"/>
                </a:solidFill>
              </a:rPr>
              <a:t>의 역할과 구현 범위 등을 구분하여 모든 기능을 하나의 클래스에서 담당하지 않고 시스템별로 클래스를 분리 하여 관리 하는 구조를 설계 할 수 있게 되었습니다</a:t>
            </a:r>
            <a:r>
              <a:rPr lang="en-US" altLang="ko-KR" sz="140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000000"/>
                </a:solidFill>
              </a:rPr>
              <a:t>반복적으로 사용 되는 핵심 로직은 </a:t>
            </a:r>
            <a:r>
              <a:rPr lang="en-US" altLang="ko-KR" sz="1400" b="0" dirty="0">
                <a:solidFill>
                  <a:srgbClr val="000000"/>
                </a:solidFill>
              </a:rPr>
              <a:t>C++</a:t>
            </a:r>
            <a:r>
              <a:rPr lang="ko-KR" altLang="en-US" sz="1400" dirty="0">
                <a:solidFill>
                  <a:srgbClr val="000000"/>
                </a:solidFill>
              </a:rPr>
              <a:t>로 처리 하고</a:t>
            </a:r>
            <a:r>
              <a:rPr lang="en-US" altLang="ko-KR" sz="1400" dirty="0">
                <a:solidFill>
                  <a:srgbClr val="000000"/>
                </a:solidFill>
              </a:rPr>
              <a:t> Mesh, Animation, Widget, </a:t>
            </a:r>
            <a:r>
              <a:rPr lang="en-US" altLang="ko-KR" sz="1400" dirty="0" err="1">
                <a:solidFill>
                  <a:srgbClr val="000000"/>
                </a:solidFill>
              </a:rPr>
              <a:t>DataAsset</a:t>
            </a:r>
            <a:r>
              <a:rPr lang="ko-KR" altLang="en-US" sz="1400" dirty="0">
                <a:solidFill>
                  <a:srgbClr val="000000"/>
                </a:solidFill>
              </a:rPr>
              <a:t>등과 같은 콘텐츠 요소는 </a:t>
            </a:r>
            <a:r>
              <a:rPr lang="en-US" altLang="ko-KR" sz="1400" dirty="0">
                <a:solidFill>
                  <a:srgbClr val="000000"/>
                </a:solidFill>
              </a:rPr>
              <a:t>Blueprint</a:t>
            </a:r>
            <a:r>
              <a:rPr lang="ko-KR" altLang="en-US" sz="1400" dirty="0">
                <a:solidFill>
                  <a:srgbClr val="000000"/>
                </a:solidFill>
              </a:rPr>
              <a:t>에 연결하는 </a:t>
            </a:r>
            <a:r>
              <a:rPr lang="en-US" altLang="ko-KR" sz="1400" dirty="0">
                <a:solidFill>
                  <a:srgbClr val="000000"/>
                </a:solidFill>
              </a:rPr>
              <a:t>Unreal </a:t>
            </a:r>
            <a:r>
              <a:rPr lang="ko-KR" altLang="en-US" sz="1400" dirty="0">
                <a:solidFill>
                  <a:srgbClr val="000000"/>
                </a:solidFill>
              </a:rPr>
              <a:t>개발 방식을 이해 하고 적용 할 수 있게 되었습니다</a:t>
            </a:r>
            <a:r>
              <a:rPr lang="en-US" altLang="ko-KR" sz="140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UCLASS, UFUNCTION, UPROPERTY</a:t>
            </a:r>
            <a:r>
              <a:rPr lang="ko-KR" altLang="en-US" sz="1400" b="0" dirty="0">
                <a:solidFill>
                  <a:srgbClr val="000000"/>
                </a:solidFill>
              </a:rPr>
              <a:t>를 이용 하여 </a:t>
            </a:r>
            <a:r>
              <a:rPr lang="en-US" altLang="ko-KR" sz="1400" b="0" dirty="0">
                <a:solidFill>
                  <a:srgbClr val="000000"/>
                </a:solidFill>
              </a:rPr>
              <a:t>C++ </a:t>
            </a:r>
            <a:r>
              <a:rPr lang="ko-KR" altLang="en-US" sz="1400" b="0" dirty="0">
                <a:solidFill>
                  <a:srgbClr val="000000"/>
                </a:solidFill>
              </a:rPr>
              <a:t>기능과 </a:t>
            </a:r>
            <a:r>
              <a:rPr lang="ko-KR" altLang="en-US" sz="1400" b="0" dirty="0" err="1">
                <a:solidFill>
                  <a:srgbClr val="000000"/>
                </a:solidFill>
              </a:rPr>
              <a:t>설정값을</a:t>
            </a:r>
            <a:r>
              <a:rPr lang="ko-KR" altLang="en-US" sz="1400" b="0" dirty="0">
                <a:solidFill>
                  <a:srgbClr val="000000"/>
                </a:solidFill>
              </a:rPr>
              <a:t> </a:t>
            </a:r>
            <a:r>
              <a:rPr lang="en-US" altLang="ko-KR" sz="1400" b="0" dirty="0">
                <a:solidFill>
                  <a:srgbClr val="000000"/>
                </a:solidFill>
              </a:rPr>
              <a:t>Blueprint</a:t>
            </a:r>
            <a:r>
              <a:rPr lang="ko-KR" altLang="en-US" sz="1400" b="0" dirty="0">
                <a:solidFill>
                  <a:srgbClr val="000000"/>
                </a:solidFill>
              </a:rPr>
              <a:t>에서 노출하고</a:t>
            </a:r>
            <a:r>
              <a:rPr lang="en-US" altLang="ko-KR" sz="1400" dirty="0">
                <a:solidFill>
                  <a:srgbClr val="000000"/>
                </a:solidFill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</a:rPr>
              <a:t>Tobjectptr</a:t>
            </a:r>
            <a:r>
              <a:rPr lang="en-US" altLang="ko-KR" sz="1400" dirty="0">
                <a:solidFill>
                  <a:srgbClr val="000000"/>
                </a:solidFill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</a:rPr>
              <a:t>TsubclassOf</a:t>
            </a:r>
            <a:r>
              <a:rPr lang="en-US" altLang="ko-KR" sz="1400" dirty="0">
                <a:solidFill>
                  <a:srgbClr val="000000"/>
                </a:solidFill>
              </a:rPr>
              <a:t>, </a:t>
            </a:r>
            <a:r>
              <a:rPr lang="en-US" altLang="ko-KR" sz="1400" dirty="0" err="1">
                <a:solidFill>
                  <a:srgbClr val="000000"/>
                </a:solidFill>
              </a:rPr>
              <a:t>TSoftObjectPtr</a:t>
            </a:r>
            <a:r>
              <a:rPr lang="ko-KR" altLang="en-US" sz="1400" dirty="0">
                <a:solidFill>
                  <a:srgbClr val="000000"/>
                </a:solidFill>
              </a:rPr>
              <a:t>을 용도에 맞게 선택하여 </a:t>
            </a:r>
            <a:r>
              <a:rPr lang="en-US" altLang="ko-KR" sz="1400" dirty="0" err="1">
                <a:solidFill>
                  <a:srgbClr val="000000"/>
                </a:solidFill>
              </a:rPr>
              <a:t>UObject</a:t>
            </a:r>
            <a:r>
              <a:rPr lang="ko-KR" altLang="en-US" sz="1400" dirty="0">
                <a:solidFill>
                  <a:srgbClr val="000000"/>
                </a:solidFill>
              </a:rPr>
              <a:t>와 </a:t>
            </a:r>
            <a:r>
              <a:rPr lang="en-US" altLang="ko-KR" sz="1400" dirty="0">
                <a:solidFill>
                  <a:srgbClr val="000000"/>
                </a:solidFill>
              </a:rPr>
              <a:t>Asset </a:t>
            </a:r>
            <a:r>
              <a:rPr lang="ko-KR" altLang="en-US" sz="1400" dirty="0">
                <a:solidFill>
                  <a:srgbClr val="000000"/>
                </a:solidFill>
              </a:rPr>
              <a:t>참조 구조를 이해 하고 구성 할 수 있게 되었습니다</a:t>
            </a:r>
            <a:r>
              <a:rPr lang="en-US" altLang="ko-KR" sz="140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140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1E3BF-FDE8-1DF2-B879-20888B61F130}"/>
              </a:ext>
            </a:extLst>
          </p:cNvPr>
          <p:cNvSpPr txBox="1"/>
          <p:nvPr/>
        </p:nvSpPr>
        <p:spPr>
          <a:xfrm>
            <a:off x="433800" y="474345"/>
            <a:ext cx="10233097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n-US" altLang="ko-KR" sz="1400" dirty="0" err="1"/>
              <a:t>BP_Projectile_GunBullet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AZProjectileBase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총알 이동 및 충돌처리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HitResult</a:t>
            </a:r>
            <a:r>
              <a:rPr lang="ko-KR" altLang="en-US" sz="1400" dirty="0"/>
              <a:t>를 이용 하여  일반 피격과 </a:t>
            </a:r>
            <a:r>
              <a:rPr lang="en-US" altLang="ko-KR" sz="1400" dirty="0"/>
              <a:t>Head Shot </a:t>
            </a:r>
            <a:r>
              <a:rPr lang="ko-KR" altLang="en-US" sz="1400" dirty="0"/>
              <a:t>판정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GE_Damage_Bullet</a:t>
            </a:r>
            <a:r>
              <a:rPr lang="ko-KR" altLang="en-US" sz="1400" dirty="0"/>
              <a:t>를 이용 </a:t>
            </a:r>
            <a:r>
              <a:rPr lang="en-US" altLang="ko-KR" sz="1400" dirty="0"/>
              <a:t>GAS </a:t>
            </a:r>
            <a:r>
              <a:rPr lang="ko-KR" altLang="en-US" sz="1400" dirty="0"/>
              <a:t>데미지 적용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관통 횟수와 </a:t>
            </a:r>
            <a:r>
              <a:rPr lang="en-US" altLang="ko-KR" sz="1400" dirty="0"/>
              <a:t>Projectile Pool </a:t>
            </a:r>
            <a:r>
              <a:rPr lang="ko-KR" altLang="en-US" sz="1400" dirty="0"/>
              <a:t>반환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UI Blueprint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WBP_TPS_HUD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UZHUDWidget</a:t>
            </a:r>
            <a:r>
              <a:rPr lang="en-US" altLang="ko-KR" sz="1400" dirty="0"/>
              <a:t> 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화면의 최상위 </a:t>
            </a:r>
            <a:r>
              <a:rPr lang="en-US" altLang="ko-KR" sz="1400" dirty="0"/>
              <a:t>HUD</a:t>
            </a:r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상태 </a:t>
            </a:r>
            <a:r>
              <a:rPr lang="en-US" altLang="ko-KR" sz="1400" dirty="0"/>
              <a:t>HUD, Crosshair, Interaction UI </a:t>
            </a:r>
            <a:r>
              <a:rPr lang="ko-KR" altLang="en-US" sz="1400" dirty="0"/>
              <a:t>관리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하위에 여러 개의 </a:t>
            </a:r>
            <a:r>
              <a:rPr lang="en-US" altLang="ko-KR" sz="1400" dirty="0"/>
              <a:t>Widget Blueprint</a:t>
            </a:r>
            <a:r>
              <a:rPr lang="ko-KR" altLang="en-US" sz="1400" dirty="0"/>
              <a:t>를  가지고 있다</a:t>
            </a:r>
            <a:r>
              <a:rPr lang="en-US" altLang="ko-KR" sz="1400" dirty="0"/>
              <a:t>.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WBP_StateHUD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UZStateHUDWidget</a:t>
            </a:r>
            <a:r>
              <a:rPr lang="en-US" altLang="ko-KR" sz="1400" dirty="0"/>
              <a:t> 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Player</a:t>
            </a:r>
            <a:r>
              <a:rPr lang="ko-KR" altLang="en-US" sz="1400" dirty="0"/>
              <a:t> </a:t>
            </a:r>
            <a:r>
              <a:rPr lang="en-US" altLang="ko-KR" sz="1400" dirty="0"/>
              <a:t>HP, EXP, Ammo </a:t>
            </a:r>
            <a:r>
              <a:rPr lang="ko-KR" altLang="en-US" sz="1400" dirty="0"/>
              <a:t>등 표시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WBP_CrossHair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UZCrosshairWidget</a:t>
            </a:r>
            <a:r>
              <a:rPr lang="en-US" altLang="ko-KR" sz="1400" dirty="0"/>
              <a:t> Class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화면 중앙 </a:t>
            </a:r>
            <a:r>
              <a:rPr lang="ko-KR" altLang="en-US" sz="1400" dirty="0" err="1"/>
              <a:t>조준점</a:t>
            </a:r>
            <a:r>
              <a:rPr lang="ko-KR" altLang="en-US" sz="1400" dirty="0"/>
              <a:t> 표시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 </a:t>
            </a:r>
            <a:r>
              <a:rPr lang="en-US" altLang="ko-KR" sz="1400" dirty="0" err="1"/>
              <a:t>WBP_InteractionWidget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UZInteractionMarkerWidget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획득 가능한 무기와 아이템 안내</a:t>
            </a:r>
            <a:r>
              <a:rPr lang="en-US" altLang="ko-KR" sz="1400" dirty="0"/>
              <a:t>, </a:t>
            </a:r>
            <a:r>
              <a:rPr lang="ko-KR" altLang="en-US" sz="1400" dirty="0"/>
              <a:t>상호작용</a:t>
            </a:r>
            <a:r>
              <a:rPr lang="en-US" altLang="ko-KR" sz="1400" dirty="0"/>
              <a:t>(</a:t>
            </a:r>
            <a:r>
              <a:rPr lang="ko-KR" altLang="en-US" sz="1400" dirty="0"/>
              <a:t>엄폐 블록</a:t>
            </a:r>
            <a:r>
              <a:rPr lang="en-US" altLang="ko-KR" sz="1400" dirty="0"/>
              <a:t>) </a:t>
            </a:r>
            <a:r>
              <a:rPr lang="ko-KR" altLang="en-US" sz="1400" dirty="0"/>
              <a:t>가능 상태 표시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WBP_ZStageClearWidget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UZStageClearWidget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Staget</a:t>
            </a:r>
            <a:r>
              <a:rPr lang="en-US" altLang="ko-KR" sz="1400" dirty="0"/>
              <a:t> Clear </a:t>
            </a:r>
            <a:r>
              <a:rPr lang="ko-KR" altLang="en-US" sz="1400" dirty="0"/>
              <a:t>상태 표시</a:t>
            </a:r>
            <a:r>
              <a:rPr lang="en-US" altLang="ko-KR" sz="1400" dirty="0"/>
              <a:t>, </a:t>
            </a:r>
            <a:r>
              <a:rPr lang="ko-KR" altLang="en-US" sz="1400" dirty="0"/>
              <a:t>다음 </a:t>
            </a:r>
            <a:r>
              <a:rPr lang="en-US" altLang="ko-KR" sz="1400" dirty="0"/>
              <a:t>Stage </a:t>
            </a:r>
            <a:r>
              <a:rPr lang="ko-KR" altLang="en-US" sz="1400" dirty="0"/>
              <a:t>진행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PlayerController</a:t>
            </a:r>
            <a:r>
              <a:rPr lang="en-US" altLang="ko-KR" sz="1400" dirty="0"/>
              <a:t> </a:t>
            </a:r>
            <a:r>
              <a:rPr lang="ko-KR" altLang="en-US" sz="1400" dirty="0"/>
              <a:t>및 </a:t>
            </a:r>
            <a:r>
              <a:rPr lang="en-US" altLang="ko-KR" sz="1400" dirty="0" err="1"/>
              <a:t>GameMode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210343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1" dirty="0">
                <a:solidFill>
                  <a:srgbClr val="000000"/>
                </a:solidFill>
                <a:latin typeface="Malgun Gothic"/>
              </a:rPr>
              <a:t>5-2.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전투·투사체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구현을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통한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역량</a:t>
            </a:r>
            <a:r>
              <a:rPr sz="1800" b="1" dirty="0">
                <a:solidFill>
                  <a:srgbClr val="000000"/>
                </a:solidFill>
                <a:latin typeface="Malgun Gothic"/>
              </a:rPr>
              <a:t> </a:t>
            </a:r>
            <a:r>
              <a:rPr sz="1800" b="1" dirty="0" err="1">
                <a:solidFill>
                  <a:srgbClr val="000000"/>
                </a:solidFill>
                <a:latin typeface="Malgun Gothic"/>
              </a:rPr>
              <a:t>향상</a:t>
            </a:r>
            <a:endParaRPr sz="1800" b="1" dirty="0">
              <a:solidFill>
                <a:srgbClr val="000000"/>
              </a:solidFill>
              <a:latin typeface="Malgun Gothi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506600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입력부터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조준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발사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충돌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재장전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엄폐까지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이어지는</a:t>
            </a:r>
            <a:r>
              <a:rPr sz="1320" b="0" dirty="0">
                <a:solidFill>
                  <a:srgbClr val="000000"/>
                </a:solidFill>
              </a:rPr>
              <a:t> TPS </a:t>
            </a:r>
            <a:r>
              <a:rPr sz="1320" b="0" dirty="0" err="1">
                <a:solidFill>
                  <a:srgbClr val="000000"/>
                </a:solidFill>
              </a:rPr>
              <a:t>전투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흐름을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직접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구성했습니다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500"/>
            </a:pPr>
            <a:r>
              <a:rPr lang="ko-KR" altLang="en-US" sz="1320" dirty="0">
                <a:solidFill>
                  <a:srgbClr val="000000"/>
                </a:solidFill>
              </a:rPr>
              <a:t>수행 한 내용</a:t>
            </a: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400" b="0" dirty="0">
                <a:solidFill>
                  <a:srgbClr val="000000"/>
                </a:solidFill>
              </a:rPr>
              <a:t>전투 기능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카메라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방향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기반</a:t>
            </a:r>
            <a:r>
              <a:rPr sz="1320" b="0" dirty="0">
                <a:solidFill>
                  <a:srgbClr val="000000"/>
                </a:solidFill>
              </a:rPr>
              <a:t> Aim </a:t>
            </a:r>
            <a:r>
              <a:rPr sz="1320" b="0" dirty="0" err="1">
                <a:solidFill>
                  <a:srgbClr val="000000"/>
                </a:solidFill>
              </a:rPr>
              <a:t>처리와</a:t>
            </a:r>
            <a:r>
              <a:rPr sz="1320" b="0" dirty="0">
                <a:solidFill>
                  <a:srgbClr val="000000"/>
                </a:solidFill>
              </a:rPr>
              <a:t> Projectile </a:t>
            </a:r>
            <a:r>
              <a:rPr sz="1320" b="0" dirty="0" err="1">
                <a:solidFill>
                  <a:srgbClr val="000000"/>
                </a:solidFill>
              </a:rPr>
              <a:t>발사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방향을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보정했습니다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Pistol, Rifle, </a:t>
            </a:r>
            <a:r>
              <a:rPr sz="1320" b="0" dirty="0" err="1">
                <a:solidFill>
                  <a:srgbClr val="000000"/>
                </a:solidFill>
              </a:rPr>
              <a:t>Shotgun의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발사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방식과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탄약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소모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구현했습니다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Projectile </a:t>
            </a:r>
            <a:r>
              <a:rPr sz="1320" b="0" dirty="0" err="1">
                <a:solidFill>
                  <a:srgbClr val="000000"/>
                </a:solidFill>
              </a:rPr>
              <a:t>충돌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관통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횟수</a:t>
            </a:r>
            <a:r>
              <a:rPr sz="1320" b="0" dirty="0">
                <a:solidFill>
                  <a:srgbClr val="000000"/>
                </a:solidFill>
              </a:rPr>
              <a:t>, Object Pool </a:t>
            </a:r>
            <a:r>
              <a:rPr sz="1320" b="0" dirty="0" err="1">
                <a:solidFill>
                  <a:srgbClr val="000000"/>
                </a:solidFill>
              </a:rPr>
              <a:t>반환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처리를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연결했습니다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재장전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Montage와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AnimationNotify를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이용해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애니메이션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완료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시점에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탄약을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갱신했습니다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>
              <a:defRPr sz="500"/>
            </a:pP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000000"/>
                </a:solidFill>
              </a:rPr>
              <a:t>Animation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Layered Blend per </a:t>
            </a:r>
            <a:r>
              <a:rPr sz="1320" b="0" dirty="0" err="1">
                <a:solidFill>
                  <a:srgbClr val="000000"/>
                </a:solidFill>
              </a:rPr>
              <a:t>Bone을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활용해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상체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조준</a:t>
            </a:r>
            <a:r>
              <a:rPr sz="1320" b="0" dirty="0">
                <a:solidFill>
                  <a:srgbClr val="000000"/>
                </a:solidFill>
              </a:rPr>
              <a:t>/</a:t>
            </a:r>
            <a:r>
              <a:rPr sz="1320" b="0" dirty="0" err="1">
                <a:solidFill>
                  <a:srgbClr val="000000"/>
                </a:solidFill>
              </a:rPr>
              <a:t>사격과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하체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이동을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분리했습니다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320" b="0" dirty="0">
                <a:solidFill>
                  <a:srgbClr val="000000"/>
                </a:solidFill>
              </a:rPr>
              <a:t>엄</a:t>
            </a:r>
            <a:r>
              <a:rPr sz="1320" b="0" dirty="0">
                <a:solidFill>
                  <a:srgbClr val="000000"/>
                </a:solidFill>
              </a:rPr>
              <a:t>폐 </a:t>
            </a:r>
            <a:r>
              <a:rPr sz="1320" b="0" dirty="0" err="1">
                <a:solidFill>
                  <a:srgbClr val="000000"/>
                </a:solidFill>
              </a:rPr>
              <a:t>상태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이동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방향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조준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상태에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따라</a:t>
            </a:r>
            <a:r>
              <a:rPr sz="1320" b="0" dirty="0">
                <a:solidFill>
                  <a:srgbClr val="000000"/>
                </a:solidFill>
              </a:rPr>
              <a:t> Animation </a:t>
            </a:r>
            <a:r>
              <a:rPr sz="1320" b="0" dirty="0" err="1">
                <a:solidFill>
                  <a:srgbClr val="000000"/>
                </a:solidFill>
              </a:rPr>
              <a:t>상태를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전환했습니다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코드에서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관리하는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공격</a:t>
            </a:r>
            <a:r>
              <a:rPr sz="1320" b="0" dirty="0">
                <a:solidFill>
                  <a:srgbClr val="000000"/>
                </a:solidFill>
              </a:rPr>
              <a:t>/</a:t>
            </a:r>
            <a:r>
              <a:rPr sz="1320" b="0" dirty="0" err="1">
                <a:solidFill>
                  <a:srgbClr val="000000"/>
                </a:solidFill>
              </a:rPr>
              <a:t>재장전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상태와</a:t>
            </a:r>
            <a:r>
              <a:rPr sz="1320" b="0" dirty="0">
                <a:solidFill>
                  <a:srgbClr val="000000"/>
                </a:solidFill>
              </a:rPr>
              <a:t> Animation </a:t>
            </a:r>
            <a:r>
              <a:rPr sz="1320" b="0" dirty="0" err="1">
                <a:solidFill>
                  <a:srgbClr val="000000"/>
                </a:solidFill>
              </a:rPr>
              <a:t>Blueprint를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연동했습니다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ko-KR" altLang="en-US" sz="1320" b="0" dirty="0">
                <a:solidFill>
                  <a:srgbClr val="000000"/>
                </a:solidFill>
              </a:rPr>
              <a:t>캐릭터 상태 변화와 애니메이션</a:t>
            </a:r>
            <a:r>
              <a:rPr lang="en-US" altLang="ko-KR" sz="1320" b="0" dirty="0">
                <a:solidFill>
                  <a:srgbClr val="000000"/>
                </a:solidFill>
              </a:rPr>
              <a:t>, </a:t>
            </a:r>
            <a:r>
              <a:rPr lang="ko-KR" altLang="en-US" sz="1320" b="0" dirty="0">
                <a:solidFill>
                  <a:srgbClr val="000000"/>
                </a:solidFill>
              </a:rPr>
              <a:t>전투 결과를 함께 연결하는 경험을 통해 </a:t>
            </a:r>
            <a:r>
              <a:rPr lang="en-US" altLang="ko-KR" sz="1320" b="0" dirty="0">
                <a:solidFill>
                  <a:srgbClr val="000000"/>
                </a:solidFill>
              </a:rPr>
              <a:t>TPS </a:t>
            </a:r>
            <a:r>
              <a:rPr lang="ko-KR" altLang="en-US" sz="1320" b="0" dirty="0">
                <a:solidFill>
                  <a:srgbClr val="000000"/>
                </a:solidFill>
              </a:rPr>
              <a:t>전투 기능을 독립적으로 설계</a:t>
            </a:r>
            <a:r>
              <a:rPr lang="en-US" altLang="ko-KR" sz="1320" b="0" dirty="0">
                <a:solidFill>
                  <a:srgbClr val="000000"/>
                </a:solidFill>
              </a:rPr>
              <a:t>·</a:t>
            </a:r>
            <a:r>
              <a:rPr lang="ko-KR" altLang="en-US" sz="1320" b="0" dirty="0">
                <a:solidFill>
                  <a:srgbClr val="000000"/>
                </a:solidFill>
              </a:rPr>
              <a:t>구현할 수 있는 능력이 향상되었습니다</a:t>
            </a:r>
            <a:r>
              <a:rPr lang="en-US" altLang="ko-KR"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320" dirty="0">
              <a:solidFill>
                <a:srgbClr val="0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altLang="ko-KR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00"/>
                </a:solidFill>
              </a:rPr>
              <a:t>향상된 실무 역량</a:t>
            </a:r>
            <a:endParaRPr lang="en-US" altLang="ko-KR" sz="120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20" b="0" dirty="0">
                <a:solidFill>
                  <a:srgbClr val="000000"/>
                </a:solidFill>
              </a:rPr>
              <a:t>Enhanced Input</a:t>
            </a:r>
            <a:r>
              <a:rPr lang="ko-KR" altLang="en-US" sz="1320" b="0" dirty="0">
                <a:solidFill>
                  <a:srgbClr val="000000"/>
                </a:solidFill>
              </a:rPr>
              <a:t>의</a:t>
            </a:r>
            <a:r>
              <a:rPr lang="en-US" altLang="ko-KR" sz="1320" dirty="0">
                <a:solidFill>
                  <a:srgbClr val="000000"/>
                </a:solidFill>
              </a:rPr>
              <a:t> </a:t>
            </a:r>
            <a:r>
              <a:rPr lang="ko-KR" altLang="en-US" sz="1320" dirty="0">
                <a:solidFill>
                  <a:srgbClr val="000000"/>
                </a:solidFill>
              </a:rPr>
              <a:t>입력과 </a:t>
            </a:r>
            <a:r>
              <a:rPr lang="en-US" altLang="ko-KR" sz="1320" dirty="0">
                <a:solidFill>
                  <a:srgbClr val="000000"/>
                </a:solidFill>
              </a:rPr>
              <a:t>Projectile</a:t>
            </a:r>
            <a:r>
              <a:rPr lang="ko-KR" altLang="en-US" sz="1320" dirty="0">
                <a:solidFill>
                  <a:srgbClr val="000000"/>
                </a:solidFill>
              </a:rPr>
              <a:t>를 생성</a:t>
            </a:r>
            <a:r>
              <a:rPr lang="en-US" altLang="ko-KR" sz="1320" dirty="0">
                <a:solidFill>
                  <a:srgbClr val="000000"/>
                </a:solidFill>
              </a:rPr>
              <a:t>, </a:t>
            </a:r>
            <a:r>
              <a:rPr lang="ko-KR" altLang="en-US" sz="1320" dirty="0">
                <a:solidFill>
                  <a:srgbClr val="000000"/>
                </a:solidFill>
              </a:rPr>
              <a:t>충돌까지 이어지는 </a:t>
            </a:r>
            <a:r>
              <a:rPr lang="en-US" altLang="ko-KR" sz="1320" dirty="0">
                <a:solidFill>
                  <a:srgbClr val="000000"/>
                </a:solidFill>
              </a:rPr>
              <a:t>TPS </a:t>
            </a:r>
            <a:r>
              <a:rPr lang="ko-KR" altLang="en-US" sz="1320" dirty="0">
                <a:solidFill>
                  <a:srgbClr val="000000"/>
                </a:solidFill>
              </a:rPr>
              <a:t>전투 흐름을 하나의 구조로 설계 하고 연결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20" b="0" dirty="0">
                <a:solidFill>
                  <a:srgbClr val="000000"/>
                </a:solidFill>
              </a:rPr>
              <a:t>카메라</a:t>
            </a:r>
            <a:r>
              <a:rPr lang="en-US" altLang="ko-KR" sz="1320" b="0" dirty="0">
                <a:solidFill>
                  <a:srgbClr val="000000"/>
                </a:solidFill>
              </a:rPr>
              <a:t>, </a:t>
            </a:r>
            <a:r>
              <a:rPr lang="ko-KR" altLang="en-US" sz="1320" b="0" dirty="0">
                <a:solidFill>
                  <a:srgbClr val="000000"/>
                </a:solidFill>
              </a:rPr>
              <a:t>캐릭터 방향</a:t>
            </a:r>
            <a:r>
              <a:rPr lang="en-US" altLang="ko-KR" sz="1320" b="0" dirty="0">
                <a:solidFill>
                  <a:srgbClr val="000000"/>
                </a:solidFill>
              </a:rPr>
              <a:t>, </a:t>
            </a:r>
            <a:r>
              <a:rPr lang="ko-KR" altLang="en-US" sz="1320" b="0" dirty="0">
                <a:solidFill>
                  <a:srgbClr val="000000"/>
                </a:solidFill>
              </a:rPr>
              <a:t>무기 </a:t>
            </a:r>
            <a:r>
              <a:rPr lang="en-US" altLang="ko-KR" sz="1320" b="0" dirty="0">
                <a:solidFill>
                  <a:srgbClr val="000000"/>
                </a:solidFill>
              </a:rPr>
              <a:t>Muzzle</a:t>
            </a:r>
            <a:r>
              <a:rPr lang="ko-KR" altLang="en-US" sz="1320" b="0" dirty="0">
                <a:solidFill>
                  <a:srgbClr val="000000"/>
                </a:solidFill>
              </a:rPr>
              <a:t>의 위치 사이의 관계를 이해 하고 조준 및 발사의 흐름을 이해 하게 되었습니다</a:t>
            </a:r>
            <a:r>
              <a:rPr lang="en-US" altLang="ko-KR" sz="1320" b="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20" dirty="0">
                <a:solidFill>
                  <a:srgbClr val="000000"/>
                </a:solidFill>
              </a:rPr>
              <a:t>반복 생성 되는 </a:t>
            </a:r>
            <a:r>
              <a:rPr lang="en-US" altLang="ko-KR" sz="1320" dirty="0">
                <a:solidFill>
                  <a:srgbClr val="000000"/>
                </a:solidFill>
              </a:rPr>
              <a:t>Projectile</a:t>
            </a:r>
            <a:r>
              <a:rPr lang="ko-KR" altLang="en-US" sz="1320" dirty="0">
                <a:solidFill>
                  <a:srgbClr val="000000"/>
                </a:solidFill>
              </a:rPr>
              <a:t>를 </a:t>
            </a:r>
            <a:r>
              <a:rPr lang="en-US" altLang="ko-KR" sz="1320" dirty="0">
                <a:solidFill>
                  <a:srgbClr val="000000"/>
                </a:solidFill>
              </a:rPr>
              <a:t>Object Pool</a:t>
            </a:r>
            <a:r>
              <a:rPr lang="ko-KR" altLang="en-US" sz="1320" dirty="0">
                <a:solidFill>
                  <a:srgbClr val="000000"/>
                </a:solidFill>
              </a:rPr>
              <a:t>을 이용 하여 구현</a:t>
            </a:r>
            <a:r>
              <a:rPr lang="en-US" altLang="ko-KR" sz="1320" dirty="0">
                <a:solidFill>
                  <a:srgbClr val="000000"/>
                </a:solidFill>
              </a:rPr>
              <a:t>, </a:t>
            </a:r>
            <a:r>
              <a:rPr lang="ko-KR" altLang="en-US" sz="1320" dirty="0">
                <a:solidFill>
                  <a:srgbClr val="000000"/>
                </a:solidFill>
              </a:rPr>
              <a:t>관리하는 구조를 만들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20" dirty="0">
                <a:solidFill>
                  <a:srgbClr val="000000"/>
                </a:solidFill>
              </a:rPr>
              <a:t>Animation</a:t>
            </a:r>
            <a:r>
              <a:rPr lang="ko-KR" altLang="en-US" sz="1320" dirty="0">
                <a:solidFill>
                  <a:srgbClr val="000000"/>
                </a:solidFill>
              </a:rPr>
              <a:t>의 </a:t>
            </a:r>
            <a:r>
              <a:rPr lang="en-US" altLang="ko-KR" sz="1320" dirty="0">
                <a:solidFill>
                  <a:srgbClr val="000000"/>
                </a:solidFill>
              </a:rPr>
              <a:t>FSM</a:t>
            </a:r>
            <a:r>
              <a:rPr lang="ko-KR" altLang="en-US" sz="1320" dirty="0">
                <a:solidFill>
                  <a:srgbClr val="000000"/>
                </a:solidFill>
              </a:rPr>
              <a:t>과 </a:t>
            </a:r>
            <a:r>
              <a:rPr lang="en-US" altLang="ko-KR" sz="1320" dirty="0" err="1">
                <a:solidFill>
                  <a:srgbClr val="000000"/>
                </a:solidFill>
              </a:rPr>
              <a:t>AnimationMontage</a:t>
            </a:r>
            <a:r>
              <a:rPr lang="ko-KR" altLang="en-US" sz="1320" dirty="0">
                <a:solidFill>
                  <a:srgbClr val="000000"/>
                </a:solidFill>
              </a:rPr>
              <a:t>를 이용 하여 캐릭터의 상황과 입력에 따른 캐릭터 동작을 제어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20" b="0" dirty="0">
                <a:solidFill>
                  <a:srgbClr val="000000"/>
                </a:solidFill>
              </a:rPr>
              <a:t>게임 로직과 </a:t>
            </a:r>
            <a:r>
              <a:rPr lang="en-US" altLang="ko-KR" sz="1320" b="0" dirty="0">
                <a:solidFill>
                  <a:srgbClr val="000000"/>
                </a:solidFill>
              </a:rPr>
              <a:t>Animation</a:t>
            </a:r>
            <a:r>
              <a:rPr lang="ko-KR" altLang="en-US" sz="1320" b="0" dirty="0">
                <a:solidFill>
                  <a:srgbClr val="000000"/>
                </a:solidFill>
              </a:rPr>
              <a:t>이</a:t>
            </a:r>
            <a:r>
              <a:rPr lang="en-US" altLang="ko-KR" sz="1320" b="0" dirty="0">
                <a:solidFill>
                  <a:srgbClr val="000000"/>
                </a:solidFill>
              </a:rPr>
              <a:t> </a:t>
            </a:r>
            <a:r>
              <a:rPr lang="ko-KR" altLang="en-US" sz="1320" b="0" dirty="0">
                <a:solidFill>
                  <a:srgbClr val="000000"/>
                </a:solidFill>
              </a:rPr>
              <a:t>서로 다른 시점에 동작 할 때 </a:t>
            </a:r>
            <a:r>
              <a:rPr lang="en-US" altLang="ko-KR" sz="1320" b="0" dirty="0" err="1">
                <a:solidFill>
                  <a:srgbClr val="000000"/>
                </a:solidFill>
              </a:rPr>
              <a:t>AnimationNotify</a:t>
            </a:r>
            <a:r>
              <a:rPr lang="ko-KR" altLang="en-US" sz="1320" b="0" dirty="0">
                <a:solidFill>
                  <a:srgbClr val="000000"/>
                </a:solidFill>
              </a:rPr>
              <a:t>를 이용 하여 상태 동기화를 할 수 </a:t>
            </a:r>
            <a:r>
              <a:rPr lang="ko-KR" altLang="en-US" sz="1320" dirty="0">
                <a:solidFill>
                  <a:srgbClr val="000000"/>
                </a:solidFill>
              </a:rPr>
              <a:t>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1C478A-0DAA-E8ED-576F-5E75C316E295}"/>
              </a:ext>
            </a:extLst>
          </p:cNvPr>
          <p:cNvSpPr txBox="1"/>
          <p:nvPr/>
        </p:nvSpPr>
        <p:spPr>
          <a:xfrm>
            <a:off x="433800" y="474345"/>
            <a:ext cx="10233097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n-US" altLang="ko-KR" sz="1400" dirty="0" err="1"/>
              <a:t>WBP_ZGameOverWidget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UZGameOverWidget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Player </a:t>
            </a:r>
            <a:r>
              <a:rPr lang="ko-KR" altLang="en-US" sz="1400" dirty="0"/>
              <a:t>사망 및 </a:t>
            </a:r>
            <a:r>
              <a:rPr lang="en-US" altLang="ko-KR" sz="1400" dirty="0"/>
              <a:t>Game Over </a:t>
            </a:r>
            <a:r>
              <a:rPr lang="ko-KR" altLang="en-US" sz="1400" dirty="0"/>
              <a:t>표시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게임 재 </a:t>
            </a:r>
            <a:r>
              <a:rPr lang="ko-KR" altLang="en-US" sz="1400" dirty="0" err="1"/>
              <a:t>시작및</a:t>
            </a:r>
            <a:r>
              <a:rPr lang="ko-KR" altLang="en-US" sz="1400" dirty="0"/>
              <a:t> 종료 입력 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Animation Blueprint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ABP_ZCharacter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PlayerCharacter</a:t>
            </a:r>
            <a:r>
              <a:rPr lang="ko-KR" altLang="en-US" sz="1400" dirty="0"/>
              <a:t>의 </a:t>
            </a:r>
            <a:r>
              <a:rPr lang="en-US" altLang="ko-KR" sz="1400" dirty="0"/>
              <a:t>Skeletal Mesh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기본 이동</a:t>
            </a:r>
            <a:r>
              <a:rPr lang="en-US" altLang="ko-KR" sz="1400" dirty="0"/>
              <a:t>, </a:t>
            </a:r>
            <a:r>
              <a:rPr lang="ko-KR" altLang="en-US" sz="1400" dirty="0"/>
              <a:t>정지</a:t>
            </a:r>
            <a:r>
              <a:rPr lang="en-US" altLang="ko-KR" sz="1400" dirty="0"/>
              <a:t> </a:t>
            </a:r>
            <a:r>
              <a:rPr lang="ko-KR" altLang="en-US" sz="1400" dirty="0"/>
              <a:t>방향 </a:t>
            </a:r>
            <a:r>
              <a:rPr lang="ko-KR" altLang="en-US" sz="1400" dirty="0" err="1"/>
              <a:t>전환등</a:t>
            </a:r>
            <a:r>
              <a:rPr lang="ko-KR" altLang="en-US" sz="1400" dirty="0"/>
              <a:t> </a:t>
            </a:r>
            <a:r>
              <a:rPr lang="en-US" altLang="ko-KR" sz="1400" dirty="0"/>
              <a:t>Animation </a:t>
            </a:r>
            <a:r>
              <a:rPr lang="ko-KR" altLang="en-US" sz="1400" dirty="0"/>
              <a:t>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Character Movement </a:t>
            </a:r>
            <a:r>
              <a:rPr lang="ko-KR" altLang="en-US" sz="1400" dirty="0"/>
              <a:t>상태를 </a:t>
            </a:r>
            <a:r>
              <a:rPr lang="en-US" altLang="ko-KR" sz="1400" dirty="0"/>
              <a:t>Animation State</a:t>
            </a:r>
            <a:r>
              <a:rPr lang="ko-KR" altLang="en-US" sz="1400" dirty="0"/>
              <a:t>로 변환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ABP_ZCharcater_Pistol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BP_ZCharacter</a:t>
            </a:r>
            <a:r>
              <a:rPr lang="ko-KR" altLang="en-US" sz="1400" dirty="0"/>
              <a:t>와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권총 장착 상태</a:t>
            </a:r>
            <a:r>
              <a:rPr lang="en-US" altLang="ko-KR" sz="1400" dirty="0"/>
              <a:t>, </a:t>
            </a:r>
            <a:r>
              <a:rPr lang="ko-KR" altLang="en-US" sz="1400" dirty="0"/>
              <a:t>이동</a:t>
            </a:r>
            <a:r>
              <a:rPr lang="en-US" altLang="ko-KR" sz="1400" dirty="0"/>
              <a:t>,</a:t>
            </a:r>
            <a:r>
              <a:rPr lang="ko-KR" altLang="en-US" sz="1400" dirty="0"/>
              <a:t> 조준</a:t>
            </a:r>
            <a:r>
              <a:rPr lang="en-US" altLang="ko-KR" sz="1400" dirty="0"/>
              <a:t>, </a:t>
            </a:r>
            <a:r>
              <a:rPr lang="ko-KR" altLang="en-US" sz="1400" dirty="0"/>
              <a:t>발사</a:t>
            </a:r>
            <a:r>
              <a:rPr lang="en-US" altLang="ko-KR" sz="1400" dirty="0"/>
              <a:t>, </a:t>
            </a:r>
            <a:r>
              <a:rPr lang="ko-KR" altLang="en-US" sz="1400" dirty="0"/>
              <a:t>재장전 </a:t>
            </a:r>
            <a:r>
              <a:rPr lang="en-US" altLang="ko-KR" sz="1400" dirty="0"/>
              <a:t>Montage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C++ </a:t>
            </a:r>
            <a:r>
              <a:rPr lang="ko-KR" altLang="en-US" sz="1400" dirty="0"/>
              <a:t>의 공격 재장전 상태와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ABP_ZCharacter_Rifle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BP_ZCharacter</a:t>
            </a:r>
            <a:r>
              <a:rPr lang="ko-KR" altLang="en-US" sz="1400" dirty="0"/>
              <a:t>와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소총 및 산탄총 장착 상태</a:t>
            </a:r>
            <a:r>
              <a:rPr lang="en-US" altLang="ko-KR" sz="1400" dirty="0"/>
              <a:t>, </a:t>
            </a:r>
            <a:r>
              <a:rPr lang="ko-KR" altLang="en-US" sz="1400" dirty="0"/>
              <a:t>이동</a:t>
            </a:r>
            <a:r>
              <a:rPr lang="en-US" altLang="ko-KR" sz="1400" dirty="0"/>
              <a:t>, </a:t>
            </a:r>
            <a:r>
              <a:rPr lang="ko-KR" altLang="en-US" sz="1400" dirty="0"/>
              <a:t>조준</a:t>
            </a:r>
            <a:r>
              <a:rPr lang="en-US" altLang="ko-KR" sz="1400" dirty="0"/>
              <a:t>, </a:t>
            </a:r>
            <a:r>
              <a:rPr lang="ko-KR" altLang="en-US" sz="1400" dirty="0"/>
              <a:t>발사</a:t>
            </a:r>
            <a:r>
              <a:rPr lang="en-US" altLang="ko-KR" sz="1400" dirty="0"/>
              <a:t>, </a:t>
            </a:r>
            <a:r>
              <a:rPr lang="ko-KR" altLang="en-US" sz="1400" dirty="0"/>
              <a:t>재장전 </a:t>
            </a:r>
            <a:r>
              <a:rPr lang="en-US" altLang="ko-KR" sz="1400" dirty="0"/>
              <a:t>Montage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C++ </a:t>
            </a:r>
            <a:r>
              <a:rPr lang="ko-KR" altLang="en-US" sz="1400" dirty="0"/>
              <a:t>의 공격 재장전 상태와 </a:t>
            </a:r>
            <a:r>
              <a:rPr lang="en-US" altLang="ko-KR" sz="1400" dirty="0"/>
              <a:t>Blueprint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ABP_Zenemy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UZEnemyAnimInstance</a:t>
            </a:r>
            <a:r>
              <a:rPr lang="en-US" altLang="ko-KR" sz="1400" dirty="0"/>
              <a:t> 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적 </a:t>
            </a:r>
            <a:r>
              <a:rPr lang="en-US" altLang="ko-KR" sz="1400" dirty="0"/>
              <a:t>Idle, </a:t>
            </a:r>
            <a:r>
              <a:rPr lang="ko-KR" altLang="en-US" sz="1400" dirty="0"/>
              <a:t>이동</a:t>
            </a:r>
            <a:r>
              <a:rPr lang="en-US" altLang="ko-KR" sz="1400" dirty="0"/>
              <a:t>, </a:t>
            </a:r>
            <a:r>
              <a:rPr lang="ko-KR" altLang="en-US" sz="1400" dirty="0"/>
              <a:t>추격</a:t>
            </a:r>
            <a:r>
              <a:rPr lang="en-US" altLang="ko-KR" sz="1400" dirty="0"/>
              <a:t>, </a:t>
            </a:r>
            <a:r>
              <a:rPr lang="ko-KR" altLang="en-US" sz="1400" dirty="0"/>
              <a:t>공격 </a:t>
            </a:r>
            <a:r>
              <a:rPr lang="en-US" altLang="ko-KR" sz="1400" dirty="0"/>
              <a:t>Animation </a:t>
            </a:r>
            <a:r>
              <a:rPr lang="ko-KR" altLang="en-US" sz="1400" dirty="0"/>
              <a:t>처리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피격 반응과 사망 상태 표시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BP_Enemy</a:t>
            </a:r>
            <a:r>
              <a:rPr lang="ko-KR" altLang="en-US" sz="1400" dirty="0"/>
              <a:t>의 </a:t>
            </a:r>
            <a:r>
              <a:rPr lang="en-US" altLang="ko-KR" sz="1400" dirty="0"/>
              <a:t>Skeletal Mesh</a:t>
            </a:r>
            <a:r>
              <a:rPr lang="ko-KR" altLang="en-US" sz="1400" dirty="0"/>
              <a:t>에 적용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  <a:p>
            <a:pPr marL="742950" lvl="1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177000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Malgun Gothic"/>
              </a:rPr>
              <a:t>5-3. UI·상호작용 구현을 통한 역량 향상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9516" y="822960"/>
            <a:ext cx="10104120" cy="43273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 sz="140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플레이어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상태와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게임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진행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정보를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HUD와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결과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UI로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표시하는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구성했습니다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500"/>
            </a:pPr>
            <a:r>
              <a:rPr lang="ko-KR" altLang="en-US" sz="1320" b="0" dirty="0">
                <a:solidFill>
                  <a:srgbClr val="000000"/>
                </a:solidFill>
              </a:rPr>
              <a:t>수행 내용</a:t>
            </a: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400" b="0" dirty="0">
                <a:solidFill>
                  <a:srgbClr val="000000"/>
                </a:solidFill>
              </a:rPr>
              <a:t>UI / </a:t>
            </a:r>
            <a:r>
              <a:rPr sz="1400" b="0" dirty="0" err="1">
                <a:solidFill>
                  <a:srgbClr val="000000"/>
                </a:solidFill>
              </a:rPr>
              <a:t>상호</a:t>
            </a:r>
            <a:r>
              <a:rPr lang="en-US" sz="1400" b="0" dirty="0">
                <a:solidFill>
                  <a:srgbClr val="000000"/>
                </a:solidFill>
              </a:rPr>
              <a:t> </a:t>
            </a:r>
            <a:r>
              <a:rPr sz="1400" b="0" dirty="0" err="1">
                <a:solidFill>
                  <a:srgbClr val="000000"/>
                </a:solidFill>
              </a:rPr>
              <a:t>작용</a:t>
            </a:r>
            <a:endParaRPr sz="1400" b="0" dirty="0">
              <a:solidFill>
                <a:srgbClr val="0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HUD에</a:t>
            </a:r>
            <a:r>
              <a:rPr sz="1320" b="0" dirty="0">
                <a:solidFill>
                  <a:srgbClr val="000000"/>
                </a:solidFill>
              </a:rPr>
              <a:t> HP, EXP, Ammo, Crosshair, </a:t>
            </a:r>
            <a:r>
              <a:rPr sz="1320" b="0" dirty="0" err="1">
                <a:solidFill>
                  <a:srgbClr val="000000"/>
                </a:solidFill>
              </a:rPr>
              <a:t>상호작용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정보를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표시했습니다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무기와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아이템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드랍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획득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안내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결과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UI를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PlayerController와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연동했습니다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Stage </a:t>
            </a:r>
            <a:r>
              <a:rPr sz="1320" b="0" dirty="0" err="1">
                <a:solidFill>
                  <a:srgbClr val="000000"/>
                </a:solidFill>
              </a:rPr>
              <a:t>Clear와</a:t>
            </a:r>
            <a:r>
              <a:rPr sz="1320" b="0" dirty="0">
                <a:solidFill>
                  <a:srgbClr val="000000"/>
                </a:solidFill>
              </a:rPr>
              <a:t> Game Over </a:t>
            </a:r>
            <a:r>
              <a:rPr sz="1320" b="0" dirty="0" err="1">
                <a:solidFill>
                  <a:srgbClr val="000000"/>
                </a:solidFill>
              </a:rPr>
              <a:t>UI를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GameMode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진행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흐름과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연결했습니다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UI가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보이지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않거나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값이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갱신되지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않는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문제를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재정리로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해결했습니다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적 </a:t>
            </a:r>
            <a:r>
              <a:rPr sz="1320" b="0" dirty="0" err="1">
                <a:solidFill>
                  <a:srgbClr val="000000"/>
                </a:solidFill>
              </a:rPr>
              <a:t>생성</a:t>
            </a:r>
            <a:r>
              <a:rPr sz="1320" b="0" dirty="0">
                <a:solidFill>
                  <a:srgbClr val="000000"/>
                </a:solidFill>
              </a:rPr>
              <a:t> 수, Stage </a:t>
            </a:r>
            <a:r>
              <a:rPr sz="1320" b="0" dirty="0" err="1">
                <a:solidFill>
                  <a:srgbClr val="000000"/>
                </a:solidFill>
              </a:rPr>
              <a:t>진행</a:t>
            </a:r>
            <a:r>
              <a:rPr sz="1320" b="0" dirty="0">
                <a:solidFill>
                  <a:srgbClr val="000000"/>
                </a:solidFill>
              </a:rPr>
              <a:t>, HUD </a:t>
            </a:r>
            <a:r>
              <a:rPr sz="1320" b="0" dirty="0" err="1">
                <a:solidFill>
                  <a:srgbClr val="000000"/>
                </a:solidFill>
              </a:rPr>
              <a:t>갱신</a:t>
            </a:r>
            <a:r>
              <a:rPr sz="1320" b="0" dirty="0">
                <a:solidFill>
                  <a:srgbClr val="000000"/>
                </a:solidFill>
              </a:rPr>
              <a:t>, Player </a:t>
            </a:r>
            <a:r>
              <a:rPr sz="1320" b="0" dirty="0" err="1">
                <a:solidFill>
                  <a:srgbClr val="000000"/>
                </a:solidFill>
              </a:rPr>
              <a:t>상태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변화가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서로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맞물리도록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수정했습니다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  <a:endParaRPr lang="en-US" sz="1320" b="0" dirty="0">
              <a:solidFill>
                <a:srgbClr val="0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32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향상된 실무 역량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20" b="0" dirty="0">
                <a:solidFill>
                  <a:srgbClr val="000000"/>
                </a:solidFill>
              </a:rPr>
              <a:t>HUD</a:t>
            </a:r>
            <a:r>
              <a:rPr lang="ko-KR" altLang="en-US" sz="1320" dirty="0">
                <a:solidFill>
                  <a:srgbClr val="000000"/>
                </a:solidFill>
              </a:rPr>
              <a:t>를 기능별 </a:t>
            </a:r>
            <a:r>
              <a:rPr lang="en-US" altLang="ko-KR" sz="1320" dirty="0">
                <a:solidFill>
                  <a:srgbClr val="000000"/>
                </a:solidFill>
              </a:rPr>
              <a:t>Widget</a:t>
            </a:r>
            <a:r>
              <a:rPr lang="ko-KR" altLang="en-US" sz="1320" dirty="0">
                <a:solidFill>
                  <a:srgbClr val="000000"/>
                </a:solidFill>
              </a:rPr>
              <a:t>으로 분리 하고 상위 </a:t>
            </a:r>
            <a:r>
              <a:rPr lang="en-US" altLang="ko-KR" sz="1320" dirty="0">
                <a:solidFill>
                  <a:srgbClr val="000000"/>
                </a:solidFill>
              </a:rPr>
              <a:t>Widget</a:t>
            </a:r>
            <a:r>
              <a:rPr lang="ko-KR" altLang="en-US" sz="1320" dirty="0">
                <a:solidFill>
                  <a:srgbClr val="000000"/>
                </a:solidFill>
              </a:rPr>
              <a:t>에서 관리하는 </a:t>
            </a:r>
            <a:r>
              <a:rPr lang="en-US" altLang="ko-KR" sz="1320" dirty="0">
                <a:solidFill>
                  <a:srgbClr val="000000"/>
                </a:solidFill>
              </a:rPr>
              <a:t>UI </a:t>
            </a:r>
            <a:r>
              <a:rPr lang="ko-KR" altLang="en-US" sz="1320" dirty="0">
                <a:solidFill>
                  <a:srgbClr val="000000"/>
                </a:solidFill>
              </a:rPr>
              <a:t>구조를 구성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20" b="0" dirty="0">
                <a:solidFill>
                  <a:srgbClr val="000000"/>
                </a:solidFill>
              </a:rPr>
              <a:t>Character</a:t>
            </a:r>
            <a:r>
              <a:rPr lang="ko-KR" altLang="en-US" sz="1320" dirty="0">
                <a:solidFill>
                  <a:srgbClr val="000000"/>
                </a:solidFill>
              </a:rPr>
              <a:t>와 </a:t>
            </a:r>
            <a:r>
              <a:rPr lang="en-US" altLang="ko-KR" sz="1320" dirty="0" err="1">
                <a:solidFill>
                  <a:srgbClr val="000000"/>
                </a:solidFill>
              </a:rPr>
              <a:t>GameMode</a:t>
            </a:r>
            <a:r>
              <a:rPr lang="ko-KR" altLang="en-US" sz="1320" dirty="0">
                <a:solidFill>
                  <a:srgbClr val="000000"/>
                </a:solidFill>
              </a:rPr>
              <a:t>의 상태 값 데이터를 </a:t>
            </a:r>
            <a:r>
              <a:rPr lang="en-US" altLang="ko-KR" sz="1320" dirty="0">
                <a:solidFill>
                  <a:srgbClr val="000000"/>
                </a:solidFill>
              </a:rPr>
              <a:t>UI</a:t>
            </a:r>
            <a:r>
              <a:rPr lang="ko-KR" altLang="en-US" sz="1320" dirty="0">
                <a:solidFill>
                  <a:srgbClr val="000000"/>
                </a:solidFill>
              </a:rPr>
              <a:t>에 전달 하여 동기화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000000"/>
                </a:solidFill>
              </a:rPr>
              <a:t>Character</a:t>
            </a:r>
            <a:r>
              <a:rPr lang="ko-KR" altLang="en-US" sz="1320" dirty="0">
                <a:solidFill>
                  <a:srgbClr val="000000"/>
                </a:solidFill>
              </a:rPr>
              <a:t>와 상호 작용 상황에 필요한 </a:t>
            </a:r>
            <a:r>
              <a:rPr lang="en-US" altLang="ko-KR" sz="1320" dirty="0">
                <a:solidFill>
                  <a:srgbClr val="000000"/>
                </a:solidFill>
              </a:rPr>
              <a:t>UI</a:t>
            </a:r>
            <a:r>
              <a:rPr lang="ko-KR" altLang="en-US" sz="1320" dirty="0">
                <a:solidFill>
                  <a:srgbClr val="000000"/>
                </a:solidFill>
              </a:rPr>
              <a:t>를 출력 할 수 있게 설계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sz="1320" b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8665D54-35A4-14CF-2D0E-EC1F2C4DEF24}"/>
              </a:ext>
            </a:extLst>
          </p:cNvPr>
          <p:cNvSpPr txBox="1"/>
          <p:nvPr/>
        </p:nvSpPr>
        <p:spPr>
          <a:xfrm>
            <a:off x="469518" y="366623"/>
            <a:ext cx="10646156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400" dirty="0" err="1"/>
              <a:t>GameplayEffect</a:t>
            </a:r>
            <a:r>
              <a:rPr lang="en-US" altLang="ko-KR" sz="1400" dirty="0"/>
              <a:t> Blueprint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 err="1"/>
              <a:t>GE_Damage_Bullet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UGameplayEffect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Instant </a:t>
            </a:r>
            <a:r>
              <a:rPr lang="en-US" altLang="ko-KR" sz="1400" dirty="0" err="1"/>
              <a:t>GameplayEffect</a:t>
            </a:r>
            <a:r>
              <a:rPr lang="ko-KR" altLang="en-US" sz="1400" dirty="0"/>
              <a:t>로 총알 피해 적용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Data.Damage</a:t>
            </a:r>
            <a:r>
              <a:rPr lang="en-US" altLang="ko-KR" sz="1400" dirty="0"/>
              <a:t> Tag</a:t>
            </a:r>
            <a:r>
              <a:rPr lang="ko-KR" altLang="en-US" sz="1400" dirty="0"/>
              <a:t>를 이용 </a:t>
            </a:r>
            <a:r>
              <a:rPr lang="en-US" altLang="ko-KR" sz="1400" dirty="0" err="1"/>
              <a:t>SetByCaller</a:t>
            </a:r>
            <a:r>
              <a:rPr lang="en-US" altLang="ko-KR" sz="1400" dirty="0"/>
              <a:t> </a:t>
            </a:r>
            <a:r>
              <a:rPr lang="ko-KR" altLang="en-US" sz="1400" dirty="0"/>
              <a:t>값 사용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Character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UZAttributeSet</a:t>
            </a:r>
            <a:r>
              <a:rPr lang="en-US" altLang="ko-KR" sz="1400" dirty="0"/>
              <a:t>::Damage Attribute </a:t>
            </a:r>
            <a:r>
              <a:rPr lang="ko-KR" altLang="en-US" sz="1400" dirty="0"/>
              <a:t>값 변경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ko-KR" altLang="en-US" sz="1400" dirty="0"/>
              <a:t>일반 피격과 </a:t>
            </a:r>
            <a:r>
              <a:rPr lang="en-US" altLang="ko-KR" sz="1400" dirty="0"/>
              <a:t>Head Shot </a:t>
            </a:r>
            <a:r>
              <a:rPr lang="ko-KR" altLang="en-US" sz="1400" dirty="0"/>
              <a:t>태그 전달</a:t>
            </a:r>
            <a:endParaRPr lang="en-US" altLang="ko-KR" sz="1400" dirty="0"/>
          </a:p>
          <a:p>
            <a:pPr marL="285750" indent="-285750">
              <a:buFontTx/>
              <a:buChar char="-"/>
            </a:pPr>
            <a:endParaRPr lang="en-US" altLang="ko-KR" sz="1400" dirty="0"/>
          </a:p>
          <a:p>
            <a:pPr marL="285750" indent="-285750">
              <a:buFontTx/>
              <a:buChar char="-"/>
            </a:pPr>
            <a:r>
              <a:rPr lang="en-US" altLang="ko-KR" sz="1400" dirty="0"/>
              <a:t>Data Asset, Data Table</a:t>
            </a:r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Character Data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/>
              <a:t>DA_Character_Player</a:t>
            </a:r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UZCharacterDataAsset</a:t>
            </a:r>
            <a:r>
              <a:rPr lang="en-US" altLang="ko-KR" sz="1400" dirty="0"/>
              <a:t> </a:t>
            </a:r>
            <a:r>
              <a:rPr lang="ko-KR" altLang="en-US" sz="1400" dirty="0"/>
              <a:t> </a:t>
            </a:r>
            <a:r>
              <a:rPr lang="en-US" altLang="ko-KR" sz="1400" dirty="0"/>
              <a:t>Class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/>
              <a:t>Player</a:t>
            </a:r>
            <a:r>
              <a:rPr lang="ko-KR" altLang="en-US" sz="1400" dirty="0"/>
              <a:t> 기본 능력치 관리</a:t>
            </a:r>
            <a:r>
              <a:rPr lang="en-US" altLang="ko-KR" sz="1400" dirty="0"/>
              <a:t>, </a:t>
            </a:r>
            <a:r>
              <a:rPr lang="ko-KR" altLang="en-US" sz="1400" dirty="0"/>
              <a:t>캐릭터 </a:t>
            </a:r>
            <a:r>
              <a:rPr lang="en-US" altLang="ko-KR" sz="1400" dirty="0"/>
              <a:t>Mesh, Animation </a:t>
            </a:r>
            <a:r>
              <a:rPr lang="ko-KR" altLang="en-US" sz="1400" dirty="0"/>
              <a:t>설정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기본 무기</a:t>
            </a:r>
            <a:r>
              <a:rPr lang="en-US" altLang="ko-KR" sz="1400" dirty="0"/>
              <a:t>Data Asset </a:t>
            </a:r>
            <a:r>
              <a:rPr lang="ko-KR" altLang="en-US" sz="1400" dirty="0"/>
              <a:t>연결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시작 </a:t>
            </a:r>
            <a:r>
              <a:rPr lang="en-US" altLang="ko-KR" sz="1400" dirty="0"/>
              <a:t>Ability </a:t>
            </a:r>
            <a:r>
              <a:rPr lang="ko-KR" altLang="en-US" sz="1400" dirty="0"/>
              <a:t>및 </a:t>
            </a:r>
            <a:r>
              <a:rPr lang="en-US" altLang="ko-KR" sz="1400" dirty="0" err="1"/>
              <a:t>GameplayEffect</a:t>
            </a:r>
            <a:r>
              <a:rPr lang="en-US" altLang="ko-KR" sz="1400" dirty="0"/>
              <a:t> </a:t>
            </a:r>
            <a:r>
              <a:rPr lang="ko-KR" altLang="en-US" sz="1400" dirty="0"/>
              <a:t>설정</a:t>
            </a:r>
            <a:endParaRPr lang="en-US" altLang="ko-KR" sz="1400" dirty="0"/>
          </a:p>
          <a:p>
            <a:pPr marL="742950" lvl="1" indent="-285750">
              <a:buFontTx/>
              <a:buChar char="-"/>
            </a:pPr>
            <a:r>
              <a:rPr lang="en-US" altLang="ko-KR" sz="1400" dirty="0"/>
              <a:t>Weapon Data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DA_Weapon_Pistol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UZWeaponDataAsset</a:t>
            </a:r>
            <a:r>
              <a:rPr lang="en-US" altLang="ko-KR" sz="1400" dirty="0"/>
              <a:t> Class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권총 공격력</a:t>
            </a:r>
            <a:r>
              <a:rPr lang="en-US" altLang="ko-KR" sz="1400" dirty="0"/>
              <a:t>, </a:t>
            </a:r>
            <a:r>
              <a:rPr lang="ko-KR" altLang="en-US" sz="1400" dirty="0"/>
              <a:t>사거리</a:t>
            </a:r>
            <a:r>
              <a:rPr lang="en-US" altLang="ko-KR" sz="1400" dirty="0"/>
              <a:t>, </a:t>
            </a:r>
            <a:r>
              <a:rPr lang="ko-KR" altLang="en-US" sz="1400" dirty="0"/>
              <a:t>공격 속도</a:t>
            </a:r>
            <a:r>
              <a:rPr lang="en-US" altLang="ko-KR" sz="1400" dirty="0"/>
              <a:t>, </a:t>
            </a:r>
            <a:r>
              <a:rPr lang="ko-KR" altLang="en-US" sz="1400" dirty="0"/>
              <a:t>탄약 수</a:t>
            </a:r>
            <a:r>
              <a:rPr lang="en-US" altLang="ko-KR" sz="1400" dirty="0"/>
              <a:t>, Projectile Class</a:t>
            </a:r>
            <a:r>
              <a:rPr lang="ko-KR" altLang="en-US" sz="1400" dirty="0"/>
              <a:t>와 탄환속도 관리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DA_Weapon_Rifle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UZWeaponDataAsset</a:t>
            </a:r>
            <a:r>
              <a:rPr lang="ko-KR" altLang="en-US" sz="1400" dirty="0"/>
              <a:t> </a:t>
            </a:r>
            <a:r>
              <a:rPr lang="en-US" altLang="ko-KR" sz="1400" dirty="0"/>
              <a:t>Class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소총 공격력</a:t>
            </a:r>
            <a:r>
              <a:rPr lang="en-US" altLang="ko-KR" sz="1400" dirty="0"/>
              <a:t>, </a:t>
            </a:r>
            <a:r>
              <a:rPr lang="ko-KR" altLang="en-US" sz="1400" dirty="0"/>
              <a:t>사거리</a:t>
            </a:r>
            <a:r>
              <a:rPr lang="en-US" altLang="ko-KR" sz="1400" dirty="0"/>
              <a:t>, </a:t>
            </a:r>
            <a:r>
              <a:rPr lang="ko-KR" altLang="en-US" sz="1400" dirty="0"/>
              <a:t>공격 속도</a:t>
            </a:r>
            <a:r>
              <a:rPr lang="en-US" altLang="ko-KR" sz="1400" dirty="0"/>
              <a:t>, </a:t>
            </a:r>
            <a:r>
              <a:rPr lang="ko-KR" altLang="en-US" sz="1400" dirty="0"/>
              <a:t>탄약 수</a:t>
            </a:r>
            <a:r>
              <a:rPr lang="en-US" altLang="ko-KR" sz="1400" dirty="0"/>
              <a:t>, Projectile Class</a:t>
            </a:r>
            <a:r>
              <a:rPr lang="ko-KR" altLang="en-US" sz="1400" dirty="0"/>
              <a:t>와 탄환속도 관리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DA_Weapont_Shotgun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UZWeaponDataAsset</a:t>
            </a:r>
            <a:r>
              <a:rPr lang="ko-KR" altLang="en-US" sz="1400" dirty="0"/>
              <a:t> </a:t>
            </a:r>
            <a:r>
              <a:rPr lang="en-US" altLang="ko-KR" sz="1400" dirty="0"/>
              <a:t>Class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산탄총 공격력</a:t>
            </a:r>
            <a:r>
              <a:rPr lang="en-US" altLang="ko-KR" sz="1400" dirty="0"/>
              <a:t>, </a:t>
            </a:r>
            <a:r>
              <a:rPr lang="ko-KR" altLang="en-US" sz="1400" dirty="0"/>
              <a:t>사거리</a:t>
            </a:r>
            <a:r>
              <a:rPr lang="en-US" altLang="ko-KR" sz="1400" dirty="0"/>
              <a:t>, </a:t>
            </a:r>
            <a:r>
              <a:rPr lang="ko-KR" altLang="en-US" sz="1400" dirty="0"/>
              <a:t>공격 속도</a:t>
            </a:r>
            <a:r>
              <a:rPr lang="en-US" altLang="ko-KR" sz="1400" dirty="0"/>
              <a:t>, </a:t>
            </a:r>
            <a:r>
              <a:rPr lang="ko-KR" altLang="en-US" sz="1400" dirty="0"/>
              <a:t>탄약 수</a:t>
            </a:r>
            <a:r>
              <a:rPr lang="en-US" altLang="ko-KR" sz="1400" dirty="0"/>
              <a:t>, Projectile Class</a:t>
            </a:r>
            <a:r>
              <a:rPr lang="ko-KR" altLang="en-US" sz="1400" dirty="0"/>
              <a:t>와 탄환속도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동시 발사되는 탄환 수</a:t>
            </a:r>
            <a:r>
              <a:rPr lang="en-US" altLang="ko-KR" sz="1400" dirty="0"/>
              <a:t>, </a:t>
            </a:r>
            <a:r>
              <a:rPr lang="ko-KR" altLang="en-US" sz="1400" dirty="0"/>
              <a:t>탄환 확산 각도 관리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endParaRPr lang="en-US" altLang="ko-KR" sz="1400" dirty="0"/>
          </a:p>
          <a:p>
            <a:pPr marL="1200150" lvl="2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987594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Malgun Gothic"/>
              </a:rPr>
              <a:t>5-4. 데이터·GAS 구현을 통한 역량 향상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50044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20" dirty="0">
                <a:solidFill>
                  <a:srgbClr val="000000"/>
                </a:solidFill>
              </a:rPr>
              <a:t>수행 내용</a:t>
            </a:r>
            <a:endParaRPr lang="en-US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2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20" b="0" dirty="0">
                <a:solidFill>
                  <a:srgbClr val="000000"/>
                </a:solidFill>
              </a:rPr>
              <a:t>데이터 </a:t>
            </a:r>
            <a:r>
              <a:rPr lang="ko-KR" altLang="en-US" sz="1320" dirty="0">
                <a:solidFill>
                  <a:srgbClr val="000000"/>
                </a:solidFill>
              </a:rPr>
              <a:t>기반 설계</a:t>
            </a:r>
            <a:endParaRPr lang="en-US" sz="132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WeaponDataAsset으로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공격력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탄약</a:t>
            </a:r>
            <a:r>
              <a:rPr sz="1320" b="0" dirty="0">
                <a:solidFill>
                  <a:srgbClr val="000000"/>
                </a:solidFill>
              </a:rPr>
              <a:t> 수, </a:t>
            </a:r>
            <a:r>
              <a:rPr sz="1320" b="0" dirty="0" err="1">
                <a:solidFill>
                  <a:srgbClr val="000000"/>
                </a:solidFill>
              </a:rPr>
              <a:t>공격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속도</a:t>
            </a:r>
            <a:r>
              <a:rPr sz="1320" b="0" dirty="0">
                <a:solidFill>
                  <a:srgbClr val="000000"/>
                </a:solidFill>
              </a:rPr>
              <a:t>, Projectile </a:t>
            </a:r>
            <a:r>
              <a:rPr sz="1320" b="0" dirty="0" err="1">
                <a:solidFill>
                  <a:srgbClr val="000000"/>
                </a:solidFill>
              </a:rPr>
              <a:t>Class를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분리했습니다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StageDefinition과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WaveDefinition으로</a:t>
            </a:r>
            <a:r>
              <a:rPr sz="1320" b="0" dirty="0">
                <a:solidFill>
                  <a:srgbClr val="000000"/>
                </a:solidFill>
              </a:rPr>
              <a:t> Stage </a:t>
            </a:r>
            <a:r>
              <a:rPr sz="1320" b="0" dirty="0" err="1">
                <a:solidFill>
                  <a:srgbClr val="000000"/>
                </a:solidFill>
              </a:rPr>
              <a:t>진행과</a:t>
            </a:r>
            <a:r>
              <a:rPr sz="1320" b="0" dirty="0">
                <a:solidFill>
                  <a:srgbClr val="000000"/>
                </a:solidFill>
              </a:rPr>
              <a:t> 적 </a:t>
            </a:r>
            <a:r>
              <a:rPr sz="1320" b="0" dirty="0" err="1">
                <a:solidFill>
                  <a:srgbClr val="000000"/>
                </a:solidFill>
              </a:rPr>
              <a:t>생성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정보를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분리했습니다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MonsterVariants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DataTable로</a:t>
            </a:r>
            <a:r>
              <a:rPr sz="1320" b="0" dirty="0">
                <a:solidFill>
                  <a:srgbClr val="000000"/>
                </a:solidFill>
              </a:rPr>
              <a:t> 적 </a:t>
            </a:r>
            <a:r>
              <a:rPr sz="1320" b="0" dirty="0" err="1">
                <a:solidFill>
                  <a:srgbClr val="000000"/>
                </a:solidFill>
              </a:rPr>
              <a:t>타입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등급</a:t>
            </a:r>
            <a:r>
              <a:rPr sz="1320" b="0" dirty="0">
                <a:solidFill>
                  <a:srgbClr val="000000"/>
                </a:solidFill>
              </a:rPr>
              <a:t>, HP, </a:t>
            </a:r>
            <a:r>
              <a:rPr sz="1320" b="0" dirty="0" err="1">
                <a:solidFill>
                  <a:srgbClr val="000000"/>
                </a:solidFill>
              </a:rPr>
              <a:t>이동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속도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공격력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외형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배율을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관리했습니다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LevelUpBalance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DataTable로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레벨업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요구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경험치와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성장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수치를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관리했습니다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ASC, </a:t>
            </a:r>
            <a:r>
              <a:rPr sz="1320" b="0" dirty="0" err="1">
                <a:solidFill>
                  <a:srgbClr val="000000"/>
                </a:solidFill>
              </a:rPr>
              <a:t>AttributeSet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GameplayEffect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GameplayTag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SetByCaller를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이용해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데미지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전달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구현했습니다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HitResult의</a:t>
            </a:r>
            <a:r>
              <a:rPr sz="1320" b="0" dirty="0">
                <a:solidFill>
                  <a:srgbClr val="000000"/>
                </a:solidFill>
              </a:rPr>
              <a:t> Bone </a:t>
            </a:r>
            <a:r>
              <a:rPr sz="1320" b="0" dirty="0" err="1">
                <a:solidFill>
                  <a:srgbClr val="000000"/>
                </a:solidFill>
              </a:rPr>
              <a:t>정보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또는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피격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위치를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이용해</a:t>
            </a:r>
            <a:r>
              <a:rPr sz="1320" b="0" dirty="0">
                <a:solidFill>
                  <a:srgbClr val="000000"/>
                </a:solidFill>
              </a:rPr>
              <a:t> Head Shot </a:t>
            </a:r>
            <a:r>
              <a:rPr sz="1320" b="0" dirty="0" err="1">
                <a:solidFill>
                  <a:srgbClr val="000000"/>
                </a:solidFill>
              </a:rPr>
              <a:t>여부를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판정했습니다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Head Shot </a:t>
            </a:r>
            <a:r>
              <a:rPr sz="1320" b="0" dirty="0" err="1">
                <a:solidFill>
                  <a:srgbClr val="000000"/>
                </a:solidFill>
              </a:rPr>
              <a:t>태그와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데미지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배율을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GameplayEffect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처리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흐름에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연결했습니다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  <a:endParaRPr lang="en-US" sz="1320" b="0" dirty="0">
              <a:solidFill>
                <a:srgbClr val="000000"/>
              </a:solidFill>
            </a:endParaRPr>
          </a:p>
          <a:p>
            <a:pPr lvl="1"/>
            <a:endParaRPr lang="en-US" sz="1320" dirty="0">
              <a:solidFill>
                <a:srgbClr val="000000"/>
              </a:solidFill>
            </a:endParaRPr>
          </a:p>
          <a:p>
            <a:pPr lvl="1"/>
            <a:endParaRPr lang="en-US" sz="1320" b="0" dirty="0">
              <a:solidFill>
                <a:srgbClr val="000000"/>
              </a:solidFill>
            </a:endParaRPr>
          </a:p>
          <a:p>
            <a:pPr lvl="1"/>
            <a:endParaRPr lang="en-US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20" b="0" dirty="0">
                <a:solidFill>
                  <a:srgbClr val="000000"/>
                </a:solidFill>
              </a:rPr>
              <a:t>GAS </a:t>
            </a:r>
            <a:r>
              <a:rPr lang="ko-KR" altLang="en-US" sz="1320" b="0" dirty="0">
                <a:solidFill>
                  <a:srgbClr val="000000"/>
                </a:solidFill>
              </a:rPr>
              <a:t>적용</a:t>
            </a:r>
            <a:endParaRPr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데이터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기반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설계는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실무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활용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가능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수준의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기초를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확보했고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br>
              <a:rPr lang="en-US" sz="1320" b="0" dirty="0">
                <a:solidFill>
                  <a:srgbClr val="000000"/>
                </a:solidFill>
              </a:rPr>
            </a:br>
            <a:r>
              <a:rPr sz="1320" b="0" dirty="0" err="1">
                <a:solidFill>
                  <a:srgbClr val="000000"/>
                </a:solidFill>
              </a:rPr>
              <a:t>GAS는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숙련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단계보다는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전투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로직에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적용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가능한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기본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이해한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수준입니다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  <a:endParaRPr lang="en-US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rgbClr val="000000"/>
                </a:solidFill>
              </a:rPr>
              <a:t>향상된 실무 역량</a:t>
            </a:r>
            <a:endParaRPr lang="en-US" altLang="ko-KR" sz="132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sz="1320" dirty="0">
                <a:solidFill>
                  <a:srgbClr val="000000"/>
                </a:solidFill>
              </a:rPr>
              <a:t>단일 객체 설정은 </a:t>
            </a:r>
            <a:r>
              <a:rPr lang="en-US" altLang="ko-KR" sz="1320" dirty="0" err="1">
                <a:solidFill>
                  <a:srgbClr val="000000"/>
                </a:solidFill>
              </a:rPr>
              <a:t>DataAsset</a:t>
            </a:r>
            <a:r>
              <a:rPr lang="en-US" altLang="ko-KR" sz="1320" dirty="0">
                <a:solidFill>
                  <a:srgbClr val="000000"/>
                </a:solidFill>
              </a:rPr>
              <a:t>, </a:t>
            </a:r>
            <a:r>
              <a:rPr lang="ko-KR" altLang="en-US" sz="1320" dirty="0">
                <a:solidFill>
                  <a:srgbClr val="000000"/>
                </a:solidFill>
              </a:rPr>
              <a:t>반복되는 데이터는 </a:t>
            </a:r>
            <a:r>
              <a:rPr lang="en-US" altLang="ko-KR" sz="1320" dirty="0" err="1">
                <a:solidFill>
                  <a:srgbClr val="000000"/>
                </a:solidFill>
              </a:rPr>
              <a:t>DataTable</a:t>
            </a:r>
            <a:r>
              <a:rPr lang="ko-KR" altLang="en-US" sz="1320" dirty="0">
                <a:solidFill>
                  <a:srgbClr val="000000"/>
                </a:solidFill>
              </a:rPr>
              <a:t>로 관리하고</a:t>
            </a:r>
            <a:r>
              <a:rPr lang="en-US" altLang="ko-KR" sz="1320" dirty="0">
                <a:solidFill>
                  <a:srgbClr val="000000"/>
                </a:solidFill>
              </a:rPr>
              <a:t> Editor</a:t>
            </a:r>
            <a:r>
              <a:rPr lang="ko-KR" altLang="en-US" sz="1320" dirty="0">
                <a:solidFill>
                  <a:srgbClr val="000000"/>
                </a:solidFill>
              </a:rPr>
              <a:t>에서 수정 가능한 구조를 설계 하여 코드와 </a:t>
            </a:r>
            <a:r>
              <a:rPr lang="en-US" altLang="ko-KR" sz="1320" dirty="0">
                <a:solidFill>
                  <a:srgbClr val="000000"/>
                </a:solidFill>
              </a:rPr>
              <a:t>Asset</a:t>
            </a:r>
            <a:r>
              <a:rPr lang="ko-KR" altLang="en-US" sz="1320" dirty="0">
                <a:solidFill>
                  <a:srgbClr val="000000"/>
                </a:solidFill>
              </a:rPr>
              <a:t>의 직접적인 결합을 줄이고 외부 데이터 변경에 대응 할 수 있는 구조를 구성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sz="1320" dirty="0">
                <a:solidFill>
                  <a:srgbClr val="000000"/>
                </a:solidFill>
              </a:rPr>
              <a:t>GAS</a:t>
            </a:r>
            <a:r>
              <a:rPr lang="ko-KR" altLang="en-US" sz="1320" dirty="0">
                <a:solidFill>
                  <a:srgbClr val="000000"/>
                </a:solidFill>
              </a:rPr>
              <a:t>의 주요 구성 요소를 이해하고 이를 </a:t>
            </a:r>
            <a:r>
              <a:rPr lang="en-US" altLang="ko-KR" sz="1320" dirty="0" err="1">
                <a:solidFill>
                  <a:srgbClr val="000000"/>
                </a:solidFill>
              </a:rPr>
              <a:t>GamplayTag</a:t>
            </a:r>
            <a:r>
              <a:rPr lang="ko-KR" altLang="en-US" sz="1320" dirty="0">
                <a:solidFill>
                  <a:srgbClr val="000000"/>
                </a:solidFill>
              </a:rPr>
              <a:t>와 </a:t>
            </a:r>
            <a:r>
              <a:rPr lang="en-US" altLang="ko-KR" sz="1320" dirty="0" err="1">
                <a:solidFill>
                  <a:srgbClr val="000000"/>
                </a:solidFill>
              </a:rPr>
              <a:t>SetByCaller</a:t>
            </a:r>
            <a:r>
              <a:rPr lang="ko-KR" altLang="en-US" sz="1320" dirty="0">
                <a:solidFill>
                  <a:srgbClr val="000000"/>
                </a:solidFill>
              </a:rPr>
              <a:t>를 이용 하여 상황에 맞는 값을 전달 하는 방식을 이해 했으며 </a:t>
            </a:r>
            <a:r>
              <a:rPr lang="en-US" altLang="ko-KR" sz="1320" dirty="0">
                <a:solidFill>
                  <a:srgbClr val="000000"/>
                </a:solidFill>
              </a:rPr>
              <a:t>GAS</a:t>
            </a:r>
            <a:r>
              <a:rPr lang="ko-KR" altLang="en-US" sz="1320" dirty="0">
                <a:solidFill>
                  <a:srgbClr val="000000"/>
                </a:solidFill>
              </a:rPr>
              <a:t>의 사용 장점과 단점</a:t>
            </a:r>
            <a:r>
              <a:rPr lang="en-US" altLang="ko-KR" sz="1320" dirty="0">
                <a:solidFill>
                  <a:srgbClr val="000000"/>
                </a:solidFill>
              </a:rPr>
              <a:t>, </a:t>
            </a:r>
            <a:r>
              <a:rPr lang="ko-KR" altLang="en-US" sz="1320" dirty="0">
                <a:solidFill>
                  <a:srgbClr val="000000"/>
                </a:solidFill>
              </a:rPr>
              <a:t>그리고 용도를 이해 </a:t>
            </a:r>
            <a:r>
              <a:rPr lang="en-US" altLang="ko-KR" sz="1320" dirty="0">
                <a:solidFill>
                  <a:srgbClr val="000000"/>
                </a:solidFill>
              </a:rPr>
              <a:t>GAS</a:t>
            </a:r>
            <a:r>
              <a:rPr lang="ko-KR" altLang="en-US" sz="1320" dirty="0">
                <a:solidFill>
                  <a:srgbClr val="000000"/>
                </a:solidFill>
              </a:rPr>
              <a:t>의 적용 대상과 비 적용 대상을 처리 할 수 있는 구조를 만들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altLang="ko-KR" sz="132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37E518-0DBB-7BDE-9279-C18DC8D9AE95}"/>
              </a:ext>
            </a:extLst>
          </p:cNvPr>
          <p:cNvSpPr txBox="1"/>
          <p:nvPr/>
        </p:nvSpPr>
        <p:spPr>
          <a:xfrm>
            <a:off x="469518" y="366623"/>
            <a:ext cx="1064615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Tx/>
              <a:buChar char="-"/>
            </a:pPr>
            <a:r>
              <a:rPr lang="en-US" altLang="ko-KR" sz="1400" dirty="0"/>
              <a:t>Game Data</a:t>
            </a:r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DA_ZStageDefinition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UZStageDefinitionAsset</a:t>
            </a:r>
            <a:r>
              <a:rPr lang="en-US" altLang="ko-KR" sz="1400" dirty="0"/>
              <a:t> Class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/>
              <a:t>Stage </a:t>
            </a:r>
            <a:r>
              <a:rPr lang="ko-KR" altLang="en-US" sz="1400" dirty="0"/>
              <a:t>진행 정보 관리</a:t>
            </a:r>
            <a:r>
              <a:rPr lang="en-US" altLang="ko-KR" sz="1400" dirty="0"/>
              <a:t>, Stage</a:t>
            </a:r>
            <a:r>
              <a:rPr lang="ko-KR" altLang="en-US" sz="1400" dirty="0"/>
              <a:t>별 적 생성 설정</a:t>
            </a:r>
            <a:r>
              <a:rPr lang="en-US" altLang="ko-KR" sz="1400" dirty="0"/>
              <a:t>, Boss </a:t>
            </a:r>
            <a:r>
              <a:rPr lang="ko-KR" altLang="en-US" sz="1400" dirty="0"/>
              <a:t>출현 및 완료 조건 관리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DT_ZWaveDefinition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FZWaveDefinition</a:t>
            </a:r>
            <a:r>
              <a:rPr lang="en-US" altLang="ko-KR" sz="1400" dirty="0"/>
              <a:t> Struct</a:t>
            </a:r>
            <a:r>
              <a:rPr lang="ko-KR" altLang="en-US" sz="1400" dirty="0"/>
              <a:t>  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/>
              <a:t>Wave</a:t>
            </a:r>
            <a:r>
              <a:rPr lang="ko-KR" altLang="en-US" sz="1400" dirty="0"/>
              <a:t>별 적 종류와 생성 수 관리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난의도</a:t>
            </a:r>
            <a:r>
              <a:rPr lang="ko-KR" altLang="en-US" sz="1400" dirty="0"/>
              <a:t> 설정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DT_MonsterVariants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FZMonsterVariantDefinition</a:t>
            </a:r>
            <a:r>
              <a:rPr lang="en-US" altLang="ko-KR" sz="1400" dirty="0"/>
              <a:t> Struct </a:t>
            </a:r>
            <a:r>
              <a:rPr lang="ko-KR" altLang="en-US" sz="1400" dirty="0"/>
              <a:t>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/>
              <a:t>Basic, Runner, Heavy  </a:t>
            </a:r>
            <a:r>
              <a:rPr lang="ko-KR" altLang="en-US" sz="1400" dirty="0"/>
              <a:t>타입 설정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/>
              <a:t>Normal, Elite, Boss </a:t>
            </a:r>
            <a:r>
              <a:rPr lang="ko-KR" altLang="en-US" sz="1400" dirty="0"/>
              <a:t>등급 설정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/>
              <a:t>HP, </a:t>
            </a:r>
            <a:r>
              <a:rPr lang="ko-KR" altLang="en-US" sz="1400" dirty="0"/>
              <a:t>이동 속도</a:t>
            </a:r>
            <a:r>
              <a:rPr lang="en-US" altLang="ko-KR" sz="1400" dirty="0"/>
              <a:t>, </a:t>
            </a:r>
            <a:r>
              <a:rPr lang="ko-KR" altLang="en-US" sz="1400" dirty="0"/>
              <a:t>공격력 및 외형 배율 관리</a:t>
            </a:r>
            <a:endParaRPr lang="en-US" altLang="ko-KR" sz="1400" dirty="0"/>
          </a:p>
          <a:p>
            <a:pPr marL="1200150" lvl="2" indent="-285750">
              <a:buFontTx/>
              <a:buChar char="-"/>
            </a:pPr>
            <a:r>
              <a:rPr lang="en-US" altLang="ko-KR" sz="1400" dirty="0" err="1"/>
              <a:t>DT_LevelUpBalance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en-US" altLang="ko-KR" sz="1400" dirty="0" err="1"/>
              <a:t>FZLevelUpBalanceRow</a:t>
            </a:r>
            <a:r>
              <a:rPr lang="ko-KR" altLang="en-US" sz="1400" dirty="0"/>
              <a:t> </a:t>
            </a:r>
            <a:r>
              <a:rPr lang="en-US" altLang="ko-KR" sz="1400" dirty="0"/>
              <a:t>Struct</a:t>
            </a:r>
            <a:r>
              <a:rPr lang="ko-KR" altLang="en-US" sz="1400" dirty="0"/>
              <a:t> 연동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 err="1"/>
              <a:t>레벨업</a:t>
            </a:r>
            <a:r>
              <a:rPr lang="ko-KR" altLang="en-US" sz="1400" dirty="0"/>
              <a:t> 요구 경험치 관리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총기 공격력과 이동 속도 등 레벨별 강화 수치 관리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r>
              <a:rPr lang="ko-KR" altLang="en-US" sz="1400" dirty="0"/>
              <a:t>최대 레벨 및 성장 </a:t>
            </a:r>
            <a:r>
              <a:rPr lang="ko-KR" altLang="en-US" sz="1400" dirty="0" err="1"/>
              <a:t>벨런스</a:t>
            </a:r>
            <a:r>
              <a:rPr lang="ko-KR" altLang="en-US" sz="1400" dirty="0"/>
              <a:t> 설정</a:t>
            </a:r>
            <a:endParaRPr lang="en-US" altLang="ko-KR" sz="1400" dirty="0"/>
          </a:p>
          <a:p>
            <a:pPr marL="1657350" lvl="3" indent="-285750">
              <a:buFontTx/>
              <a:buChar char="-"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87215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0936" y="411480"/>
            <a:ext cx="10241280" cy="411480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lnSpc>
                <a:spcPct val="105000"/>
              </a:lnSpc>
              <a:spcAft>
                <a:spcPts val="100"/>
              </a:spcAft>
            </a:pPr>
            <a:r>
              <a:rPr sz="1800" b="1">
                <a:solidFill>
                  <a:srgbClr val="000000"/>
                </a:solidFill>
                <a:latin typeface="Malgun Gothic"/>
              </a:rPr>
              <a:t>5-5. AI·Game Flow 구현을 통한 역량 향상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868680"/>
            <a:ext cx="10104120" cy="49121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000000"/>
                </a:solidFill>
              </a:rPr>
              <a:t>수행 내용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 lvl="1"/>
            <a:endParaRPr lang="en-US" sz="132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적 </a:t>
            </a:r>
            <a:r>
              <a:rPr sz="1320" b="0" dirty="0" err="1">
                <a:solidFill>
                  <a:srgbClr val="000000"/>
                </a:solidFill>
              </a:rPr>
              <a:t>AI와</a:t>
            </a:r>
            <a:r>
              <a:rPr sz="1320" b="0" dirty="0">
                <a:solidFill>
                  <a:srgbClr val="000000"/>
                </a:solidFill>
              </a:rPr>
              <a:t> Stage </a:t>
            </a:r>
            <a:r>
              <a:rPr sz="1320" b="0" dirty="0" err="1">
                <a:solidFill>
                  <a:srgbClr val="000000"/>
                </a:solidFill>
              </a:rPr>
              <a:t>진행을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GameMode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중심의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플레이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루프로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연결했습니다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  <a:endParaRPr lang="en-US" sz="1320" b="0" dirty="0">
              <a:solidFill>
                <a:srgbClr val="000000"/>
              </a:solidFill>
            </a:endParaRPr>
          </a:p>
          <a:p>
            <a:pPr lvl="1"/>
            <a:endParaRPr lang="en-US" sz="1320" dirty="0">
              <a:solidFill>
                <a:srgbClr val="000000"/>
              </a:solidFill>
            </a:endParaRPr>
          </a:p>
          <a:p>
            <a:pPr lvl="1"/>
            <a:endParaRPr lang="en-US" sz="132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0" dirty="0">
                <a:solidFill>
                  <a:srgbClr val="000000"/>
                </a:solidFill>
              </a:rPr>
              <a:t>AI </a:t>
            </a:r>
            <a:r>
              <a:rPr lang="ko-KR" altLang="en-US" sz="1400" b="0" dirty="0">
                <a:solidFill>
                  <a:srgbClr val="000000"/>
                </a:solidFill>
              </a:rPr>
              <a:t>구현</a:t>
            </a:r>
            <a:endParaRPr sz="1400" b="0" dirty="0">
              <a:solidFill>
                <a:srgbClr val="0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적 </a:t>
            </a:r>
            <a:r>
              <a:rPr sz="1320" b="0" dirty="0" err="1">
                <a:solidFill>
                  <a:srgbClr val="000000"/>
                </a:solidFill>
              </a:rPr>
              <a:t>감지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추적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공격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피격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사망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처리를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구현했습니다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Basic, Runner, Heavy </a:t>
            </a:r>
            <a:r>
              <a:rPr sz="1320" b="0" dirty="0" err="1">
                <a:solidFill>
                  <a:srgbClr val="000000"/>
                </a:solidFill>
              </a:rPr>
              <a:t>타입과</a:t>
            </a:r>
            <a:r>
              <a:rPr sz="1320" b="0" dirty="0">
                <a:solidFill>
                  <a:srgbClr val="000000"/>
                </a:solidFill>
              </a:rPr>
              <a:t> Normal, Elite, Boss </a:t>
            </a:r>
            <a:r>
              <a:rPr sz="1320" b="0" dirty="0" err="1">
                <a:solidFill>
                  <a:srgbClr val="000000"/>
                </a:solidFill>
              </a:rPr>
              <a:t>등급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구성했습니다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  <a:endParaRPr lang="en-US" sz="1320" b="0" dirty="0">
              <a:solidFill>
                <a:srgbClr val="0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적 </a:t>
            </a:r>
            <a:r>
              <a:rPr sz="1320" b="0" dirty="0" err="1">
                <a:solidFill>
                  <a:srgbClr val="000000"/>
                </a:solidFill>
              </a:rPr>
              <a:t>사망</a:t>
            </a:r>
            <a:r>
              <a:rPr sz="1320" b="0" dirty="0">
                <a:solidFill>
                  <a:srgbClr val="000000"/>
                </a:solidFill>
              </a:rPr>
              <a:t> 시 </a:t>
            </a:r>
            <a:r>
              <a:rPr sz="1320" b="0" dirty="0" err="1">
                <a:solidFill>
                  <a:srgbClr val="000000"/>
                </a:solidFill>
              </a:rPr>
              <a:t>경험치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구슬과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무기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드랍이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발생하도록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연결했습니다</a:t>
            </a:r>
            <a:r>
              <a:rPr lang="en-US"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엄폐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상태에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따라</a:t>
            </a:r>
            <a:r>
              <a:rPr sz="1320" b="0" dirty="0">
                <a:solidFill>
                  <a:srgbClr val="000000"/>
                </a:solidFill>
              </a:rPr>
              <a:t> 적 </a:t>
            </a:r>
            <a:r>
              <a:rPr sz="1320" b="0" dirty="0" err="1">
                <a:solidFill>
                  <a:srgbClr val="000000"/>
                </a:solidFill>
              </a:rPr>
              <a:t>인식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조건이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달라지는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구조를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적용했습니다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  <a:endParaRPr lang="en-US" sz="1320" b="0" dirty="0">
              <a:solidFill>
                <a:srgbClr val="000000"/>
              </a:solidFill>
            </a:endParaRPr>
          </a:p>
          <a:p>
            <a:pPr lvl="2"/>
            <a:endParaRPr lang="en-US" sz="1320" b="0" dirty="0">
              <a:solidFill>
                <a:srgbClr val="000000"/>
              </a:solidFill>
            </a:endParaRPr>
          </a:p>
          <a:p>
            <a:pPr lvl="2"/>
            <a:endParaRPr lang="en-US" sz="1320" b="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20" dirty="0">
                <a:solidFill>
                  <a:srgbClr val="000000"/>
                </a:solidFill>
              </a:rPr>
              <a:t>Game Flow</a:t>
            </a:r>
            <a:endParaRPr sz="1320" b="0" dirty="0">
              <a:solidFill>
                <a:srgbClr val="000000"/>
              </a:solidFill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Ready, Play, Stage Clear, Game Over </a:t>
            </a:r>
            <a:r>
              <a:rPr sz="1320" b="0" dirty="0" err="1">
                <a:solidFill>
                  <a:srgbClr val="000000"/>
                </a:solidFill>
              </a:rPr>
              <a:t>흐름을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구성했습니다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 err="1">
                <a:solidFill>
                  <a:srgbClr val="000000"/>
                </a:solidFill>
              </a:rPr>
              <a:t>Stage별</a:t>
            </a:r>
            <a:r>
              <a:rPr sz="1320" b="0" dirty="0">
                <a:solidFill>
                  <a:srgbClr val="000000"/>
                </a:solidFill>
              </a:rPr>
              <a:t> 적 </a:t>
            </a:r>
            <a:r>
              <a:rPr sz="1320" b="0" dirty="0" err="1">
                <a:solidFill>
                  <a:srgbClr val="000000"/>
                </a:solidFill>
              </a:rPr>
              <a:t>생성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수와</a:t>
            </a:r>
            <a:r>
              <a:rPr sz="1320" b="0" dirty="0">
                <a:solidFill>
                  <a:srgbClr val="000000"/>
                </a:solidFill>
              </a:rPr>
              <a:t> Boss </a:t>
            </a:r>
            <a:r>
              <a:rPr sz="1320" b="0" dirty="0" err="1">
                <a:solidFill>
                  <a:srgbClr val="000000"/>
                </a:solidFill>
              </a:rPr>
              <a:t>출현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조건을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데이터와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연동했습니다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sz="1320" b="0" dirty="0">
                <a:solidFill>
                  <a:srgbClr val="000000"/>
                </a:solidFill>
              </a:rPr>
              <a:t>적 </a:t>
            </a:r>
            <a:r>
              <a:rPr sz="1320" b="0" dirty="0" err="1">
                <a:solidFill>
                  <a:srgbClr val="000000"/>
                </a:solidFill>
              </a:rPr>
              <a:t>처치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경험치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획득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레벨업</a:t>
            </a:r>
            <a:r>
              <a:rPr sz="1320" b="0" dirty="0">
                <a:solidFill>
                  <a:srgbClr val="000000"/>
                </a:solidFill>
              </a:rPr>
              <a:t>, </a:t>
            </a:r>
            <a:r>
              <a:rPr sz="1320" b="0" dirty="0" err="1">
                <a:solidFill>
                  <a:srgbClr val="000000"/>
                </a:solidFill>
              </a:rPr>
              <a:t>다음</a:t>
            </a:r>
            <a:r>
              <a:rPr sz="1320" b="0" dirty="0">
                <a:solidFill>
                  <a:srgbClr val="000000"/>
                </a:solidFill>
              </a:rPr>
              <a:t> Stage </a:t>
            </a:r>
            <a:r>
              <a:rPr sz="1320" b="0" dirty="0" err="1">
                <a:solidFill>
                  <a:srgbClr val="000000"/>
                </a:solidFill>
              </a:rPr>
              <a:t>진행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흐름을</a:t>
            </a:r>
            <a:r>
              <a:rPr sz="1320" b="0" dirty="0">
                <a:solidFill>
                  <a:srgbClr val="000000"/>
                </a:solidFill>
              </a:rPr>
              <a:t> </a:t>
            </a:r>
            <a:r>
              <a:rPr sz="1320" b="0" dirty="0" err="1">
                <a:solidFill>
                  <a:srgbClr val="000000"/>
                </a:solidFill>
              </a:rPr>
              <a:t>연결했습니다</a:t>
            </a:r>
            <a:r>
              <a:rPr sz="1320" b="0" dirty="0">
                <a:solidFill>
                  <a:srgbClr val="000000"/>
                </a:solidFill>
              </a:rPr>
              <a:t>.</a:t>
            </a: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>
              <a:defRPr sz="500"/>
            </a:pPr>
            <a:endParaRPr lang="en-US" sz="1320" b="0" dirty="0">
              <a:solidFill>
                <a:srgbClr val="0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  <a:defRPr sz="500"/>
            </a:pPr>
            <a:r>
              <a:rPr lang="ko-KR" altLang="en-US" sz="1400" dirty="0">
                <a:solidFill>
                  <a:srgbClr val="000000"/>
                </a:solidFill>
              </a:rPr>
              <a:t>향상된 실무 역량</a:t>
            </a:r>
            <a:endParaRPr lang="en-US" altLang="ko-KR" sz="1400" dirty="0">
              <a:solidFill>
                <a:srgbClr val="00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 sz="500"/>
            </a:pPr>
            <a:r>
              <a:rPr lang="en-US" sz="1320" b="0" dirty="0" err="1">
                <a:solidFill>
                  <a:srgbClr val="000000"/>
                </a:solidFill>
              </a:rPr>
              <a:t>EnemyActor</a:t>
            </a:r>
            <a:r>
              <a:rPr lang="ko-KR" altLang="en-US" sz="1320" b="0" dirty="0">
                <a:solidFill>
                  <a:srgbClr val="000000"/>
                </a:solidFill>
              </a:rPr>
              <a:t>가 </a:t>
            </a:r>
            <a:r>
              <a:rPr lang="en-US" altLang="ko-KR" sz="1320" b="0" dirty="0">
                <a:solidFill>
                  <a:srgbClr val="000000"/>
                </a:solidFill>
              </a:rPr>
              <a:t>Player</a:t>
            </a:r>
            <a:r>
              <a:rPr lang="ko-KR" altLang="en-US" sz="1320" b="0" dirty="0">
                <a:solidFill>
                  <a:srgbClr val="000000"/>
                </a:solidFill>
              </a:rPr>
              <a:t>를 감지 하고 이동</a:t>
            </a:r>
            <a:r>
              <a:rPr lang="en-US" altLang="ko-KR" sz="1320" b="0" dirty="0">
                <a:solidFill>
                  <a:srgbClr val="000000"/>
                </a:solidFill>
              </a:rPr>
              <a:t>, </a:t>
            </a:r>
            <a:r>
              <a:rPr lang="ko-KR" altLang="en-US" sz="1320" b="0" dirty="0" err="1">
                <a:solidFill>
                  <a:srgbClr val="000000"/>
                </a:solidFill>
              </a:rPr>
              <a:t>공격등</a:t>
            </a:r>
            <a:r>
              <a:rPr lang="ko-KR" altLang="en-US" sz="1320" b="0" dirty="0">
                <a:solidFill>
                  <a:srgbClr val="000000"/>
                </a:solidFill>
              </a:rPr>
              <a:t> </a:t>
            </a:r>
            <a:r>
              <a:rPr lang="en-US" altLang="ko-KR" sz="1320" b="0" dirty="0">
                <a:solidFill>
                  <a:srgbClr val="000000"/>
                </a:solidFill>
              </a:rPr>
              <a:t>AI </a:t>
            </a:r>
            <a:r>
              <a:rPr lang="ko-KR" altLang="en-US" sz="1320" b="0" dirty="0">
                <a:solidFill>
                  <a:srgbClr val="000000"/>
                </a:solidFill>
              </a:rPr>
              <a:t>상태를 전환을 구현 하여 </a:t>
            </a:r>
            <a:r>
              <a:rPr lang="en-US" altLang="ko-KR" sz="1320" b="0" dirty="0">
                <a:solidFill>
                  <a:srgbClr val="000000"/>
                </a:solidFill>
              </a:rPr>
              <a:t>AI</a:t>
            </a:r>
            <a:r>
              <a:rPr lang="ko-KR" altLang="en-US" sz="1320" b="0" dirty="0">
                <a:solidFill>
                  <a:srgbClr val="000000"/>
                </a:solidFill>
              </a:rPr>
              <a:t>의 흐름을 구성 할 수 있게 되었습니다</a:t>
            </a:r>
            <a:r>
              <a:rPr lang="en-US" altLang="ko-KR" sz="1320" b="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500"/>
            </a:pPr>
            <a:r>
              <a:rPr lang="ko-KR" altLang="en-US" sz="1320" dirty="0">
                <a:solidFill>
                  <a:srgbClr val="000000"/>
                </a:solidFill>
              </a:rPr>
              <a:t>적 타입과 등급 등을 데이터로 분리하여 동일한 </a:t>
            </a:r>
            <a:r>
              <a:rPr lang="en-US" altLang="ko-KR" sz="1320" dirty="0">
                <a:solidFill>
                  <a:srgbClr val="000000"/>
                </a:solidFill>
              </a:rPr>
              <a:t>AI</a:t>
            </a:r>
            <a:r>
              <a:rPr lang="ko-KR" altLang="en-US" sz="1320" dirty="0">
                <a:solidFill>
                  <a:srgbClr val="000000"/>
                </a:solidFill>
              </a:rPr>
              <a:t>에서도 서로 다른 특성과 난의도를 구성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 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500"/>
            </a:pPr>
            <a:r>
              <a:rPr lang="en-US" sz="1320" b="0" dirty="0" err="1">
                <a:solidFill>
                  <a:srgbClr val="000000"/>
                </a:solidFill>
              </a:rPr>
              <a:t>Game</a:t>
            </a:r>
            <a:r>
              <a:rPr lang="en-US" sz="1320" dirty="0" err="1">
                <a:solidFill>
                  <a:srgbClr val="000000"/>
                </a:solidFill>
              </a:rPr>
              <a:t>Mode</a:t>
            </a:r>
            <a:r>
              <a:rPr lang="ko-KR" altLang="en-US" sz="1320" dirty="0">
                <a:solidFill>
                  <a:srgbClr val="000000"/>
                </a:solidFill>
              </a:rPr>
              <a:t>를 중심으로 </a:t>
            </a:r>
            <a:r>
              <a:rPr lang="en-US" altLang="ko-KR" sz="1320" dirty="0">
                <a:solidFill>
                  <a:srgbClr val="000000"/>
                </a:solidFill>
              </a:rPr>
              <a:t>Ready, </a:t>
            </a:r>
            <a:r>
              <a:rPr lang="ko-KR" altLang="en-US" sz="1320" dirty="0">
                <a:solidFill>
                  <a:srgbClr val="000000"/>
                </a:solidFill>
              </a:rPr>
              <a:t>전투</a:t>
            </a:r>
            <a:r>
              <a:rPr lang="en-US" altLang="ko-KR" sz="1320" dirty="0">
                <a:solidFill>
                  <a:srgbClr val="000000"/>
                </a:solidFill>
              </a:rPr>
              <a:t>, Stage Clear, </a:t>
            </a:r>
            <a:r>
              <a:rPr lang="ko-KR" altLang="en-US" sz="1320" dirty="0">
                <a:solidFill>
                  <a:srgbClr val="000000"/>
                </a:solidFill>
              </a:rPr>
              <a:t>다음 </a:t>
            </a:r>
            <a:r>
              <a:rPr lang="en-US" altLang="ko-KR" sz="1320" dirty="0">
                <a:solidFill>
                  <a:srgbClr val="000000"/>
                </a:solidFill>
              </a:rPr>
              <a:t>Stage </a:t>
            </a:r>
            <a:r>
              <a:rPr lang="ko-KR" altLang="en-US" sz="1320" dirty="0">
                <a:solidFill>
                  <a:srgbClr val="000000"/>
                </a:solidFill>
              </a:rPr>
              <a:t>이동 게임의 진행 구조를 이해 하고 구현 할 수 있게 되었습니다</a:t>
            </a:r>
            <a:r>
              <a:rPr lang="en-US" altLang="ko-KR" sz="1320" dirty="0">
                <a:solidFill>
                  <a:srgbClr val="000000"/>
                </a:solidFill>
              </a:rPr>
              <a:t>.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5">
            <a:extLst>
              <a:ext uri="{FF2B5EF4-FFF2-40B4-BE49-F238E27FC236}">
                <a16:creationId xmlns:a16="http://schemas.microsoft.com/office/drawing/2014/main" id="{E8AC05D6-54D6-2952-91A3-3178575C30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65314" y="6411160"/>
            <a:ext cx="1520825" cy="292100"/>
          </a:xfrm>
          <a:prstGeom prst="rect">
            <a:avLst/>
          </a:prstGeom>
          <a:noFill/>
          <a:ln>
            <a:noFill/>
          </a:ln>
        </p:spPr>
        <p:txBody>
          <a:bodyPr wrap="none" lIns="91431" tIns="45715" rIns="91431" bIns="45715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00" b="0" i="0" u="sng" strike="noStrike" kern="1200" cap="none" spc="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End of Document</a:t>
            </a:r>
            <a:endParaRPr kumimoji="0" lang="ko-KR" altLang="en-US" sz="1300" b="0" i="0" u="sng" strike="noStrike" kern="1200" cap="none" spc="0" normalizeH="0" baseline="0" noProof="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833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 w="9525">
          <a:solidFill>
            <a:schemeClr val="bg1">
              <a:lumMod val="95000"/>
            </a:schemeClr>
          </a:solidFill>
        </a:ln>
      </a:spPr>
      <a:bodyPr wrap="none" anchor="ctr"/>
      <a:lstStyle>
        <a:defPPr defTabSz="914218" fontAlgn="auto">
          <a:spcBef>
            <a:spcPts val="0"/>
          </a:spcBef>
          <a:spcAft>
            <a:spcPts val="0"/>
          </a:spcAft>
          <a:buFont typeface="Arial" panose="020B0604020202020204" pitchFamily="34" charset="0"/>
          <a:buChar char="•"/>
          <a:defRPr kumimoji="0" sz="1000" b="1" dirty="0" err="1" smtClean="0">
            <a:solidFill>
              <a:prstClr val="black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91431" tIns="45715" rIns="91431" bIns="45715" rtlCol="0">
        <a:spAutoFit/>
      </a:bodyPr>
      <a:lstStyle>
        <a:defPPr algn="ctr" defTabSz="914218" fontAlgn="auto">
          <a:spcBef>
            <a:spcPts val="0"/>
          </a:spcBef>
          <a:spcAft>
            <a:spcPts val="0"/>
          </a:spcAft>
          <a:buFont typeface="Arial" panose="020B0604020202020204" pitchFamily="34" charset="0"/>
          <a:buChar char="•"/>
          <a:defRPr kumimoji="0" sz="1200" dirty="0" err="1" smtClean="0">
            <a:latin typeface="+mn-ea"/>
            <a:ea typeface="+mn-ea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DC718CE-AE59-499B-8094-4C7C0F0472B9}">
  <we:reference id="cba9fc06-6fc9-492e-9525-923870a3b909" version="2.0.0.0" store="EXCatalog" storeType="EXCatalog"/>
  <we:alternateReferences>
    <we:reference id="WA200010215" version="2.0.0.0" store="ko-KR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2638</TotalTime>
  <Words>2332</Words>
  <Application>Microsoft Office PowerPoint</Application>
  <PresentationFormat>와이드스크린</PresentationFormat>
  <Paragraphs>289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굴림</vt:lpstr>
      <vt:lpstr>Malgun Gothic</vt:lpstr>
      <vt:lpstr>Malgun Gothic</vt:lpstr>
      <vt:lpstr>Aptos</vt:lpstr>
      <vt:lpstr>Aptos Display</vt:lpstr>
      <vt:lpstr>Arial</vt:lpstr>
      <vt:lpstr>Office 테마</vt:lpstr>
      <vt:lpstr>디자인 사용자 지정</vt:lpstr>
      <vt:lpstr>5_Office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허영/SG 리소스지원팀</dc:creator>
  <cp:lastModifiedBy>박종호B/SG 리소스지원팀</cp:lastModifiedBy>
  <cp:revision>37</cp:revision>
  <dcterms:created xsi:type="dcterms:W3CDTF">2026-06-04T10:28:46Z</dcterms:created>
  <dcterms:modified xsi:type="dcterms:W3CDTF">2026-09-08T05:09:04Z</dcterms:modified>
</cp:coreProperties>
</file>