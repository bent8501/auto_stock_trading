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  <p:sldMasterId id="2147483725" r:id="rId2"/>
    <p:sldMasterId id="2147483727" r:id="rId3"/>
  </p:sldMasterIdLst>
  <p:notesMasterIdLst>
    <p:notesMasterId r:id="rId9"/>
  </p:notesMasterIdLst>
  <p:sldIdLst>
    <p:sldId id="343" r:id="rId4"/>
    <p:sldId id="256" r:id="rId5"/>
    <p:sldId id="295" r:id="rId6"/>
    <p:sldId id="345" r:id="rId7"/>
    <p:sldId id="344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96" autoAdjust="0"/>
    <p:restoredTop sz="84411" autoAdjust="0"/>
  </p:normalViewPr>
  <p:slideViewPr>
    <p:cSldViewPr snapToGrid="0">
      <p:cViewPr varScale="1">
        <p:scale>
          <a:sx n="93" d="100"/>
          <a:sy n="93" d="100"/>
        </p:scale>
        <p:origin x="16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EB434-0EB4-4E3F-A14E-FFA59ADF6F04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3B97A-D88F-4C84-BE11-79E49CA043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006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3B97A-D88F-4C84-BE11-79E49CA043A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692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이미지 개체 틀 1">
            <a:extLst>
              <a:ext uri="{FF2B5EF4-FFF2-40B4-BE49-F238E27FC236}">
                <a16:creationId xmlns:a16="http://schemas.microsoft.com/office/drawing/2014/main" id="{6B65C4A1-ED6C-AA8C-9E9A-D1FCBB42B5D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슬라이드 노트 개체 틀 2">
            <a:extLst>
              <a:ext uri="{FF2B5EF4-FFF2-40B4-BE49-F238E27FC236}">
                <a16:creationId xmlns:a16="http://schemas.microsoft.com/office/drawing/2014/main" id="{9F4BCD6F-82CA-3DDD-474F-AD9587C9BD4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6148" name="슬라이드 번호 개체 틀 3">
            <a:extLst>
              <a:ext uri="{FF2B5EF4-FFF2-40B4-BE49-F238E27FC236}">
                <a16:creationId xmlns:a16="http://schemas.microsoft.com/office/drawing/2014/main" id="{5BC6E62E-12EA-636B-FF4C-E53392E1FE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030288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742950" indent="-285750" defTabSz="1030288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 marL="1143000" indent="-228600" defTabSz="1030288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 marL="1600200" indent="-228600" defTabSz="1030288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 marL="2057400" indent="-228600" defTabSz="1030288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1030288" eaLnBrk="0" fontAlgn="base" latinLnBrk="1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1030288" eaLnBrk="0" fontAlgn="base" latinLnBrk="1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1030288" eaLnBrk="0" fontAlgn="base" latinLnBrk="1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1030288" eaLnBrk="0" fontAlgn="base" latinLnBrk="1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spcBef>
                <a:spcPct val="0"/>
              </a:spcBef>
            </a:pPr>
            <a:fld id="{62288B4D-1C0C-9C48-8458-D1732D8F0181}" type="slidenum">
              <a:rPr lang="en-US" altLang="ko-KR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814BE-64A9-43B1-9DF3-EBA91FA31615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2A23B-4B96-44C8-B5BB-35AF2B486F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7290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814BE-64A9-43B1-9DF3-EBA91FA31615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2A23B-4B96-44C8-B5BB-35AF2B486F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983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814BE-64A9-43B1-9DF3-EBA91FA31615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2A23B-4B96-44C8-B5BB-35AF2B486F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2353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814BE-64A9-43B1-9DF3-EBA91FA31615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2A23B-4B96-44C8-B5BB-35AF2B486F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2922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814BE-64A9-43B1-9DF3-EBA91FA31615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2A23B-4B96-44C8-B5BB-35AF2B486F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8926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814BE-64A9-43B1-9DF3-EBA91FA31615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2A23B-4B96-44C8-B5BB-35AF2B486F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797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814BE-64A9-43B1-9DF3-EBA91FA31615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2A23B-4B96-44C8-B5BB-35AF2B486F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9148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814BE-64A9-43B1-9DF3-EBA91FA31615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2A23B-4B96-44C8-B5BB-35AF2B486F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9705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814BE-64A9-43B1-9DF3-EBA91FA31615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2A23B-4B96-44C8-B5BB-35AF2B486F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5343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814BE-64A9-43B1-9DF3-EBA91FA31615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2A23B-4B96-44C8-B5BB-35AF2B486F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078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814BE-64A9-43B1-9DF3-EBA91FA31615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2A23B-4B96-44C8-B5BB-35AF2B486F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0098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24009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5418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9438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917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825FF58-7824-951E-235D-1A2B944800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70550" y="0"/>
            <a:ext cx="6521450" cy="6858000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F87DEB01-C2EE-3D6F-C318-02977588317D}"/>
              </a:ext>
            </a:extLst>
          </p:cNvPr>
          <p:cNvSpPr/>
          <p:nvPr userDrawn="1"/>
        </p:nvSpPr>
        <p:spPr>
          <a:xfrm>
            <a:off x="504825" y="6363134"/>
            <a:ext cx="3738563" cy="3444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+mn-ea"/>
              </a:rPr>
              <a:t>© </a:t>
            </a:r>
            <a:r>
              <a:rPr lang="en-US" altLang="ko-KR" sz="8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+mn-ea"/>
              </a:rPr>
              <a:t>Smilegate</a:t>
            </a:r>
            <a:r>
              <a:rPr lang="en-US" altLang="ko-KR" sz="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+mn-ea"/>
              </a:rPr>
              <a:t>. All rights reserved.</a:t>
            </a:r>
            <a:endParaRPr lang="ko-KR" altLang="en-US" sz="8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4" name="TextBox 8">
            <a:extLst>
              <a:ext uri="{FF2B5EF4-FFF2-40B4-BE49-F238E27FC236}">
                <a16:creationId xmlns:a16="http://schemas.microsoft.com/office/drawing/2014/main" id="{5281B78E-8005-6225-B7EA-BFDD039D0D8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12763" y="6011406"/>
            <a:ext cx="6873998" cy="38985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8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8C8C8"/>
                </a:solidFill>
                <a:latin typeface="+mn-ea"/>
                <a:ea typeface="+mn-ea"/>
              </a:rPr>
              <a:t>※ </a:t>
            </a:r>
            <a:r>
              <a:rPr lang="ko-KR" altLang="en-US" sz="8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8C8C8"/>
                </a:solidFill>
                <a:latin typeface="+mn-ea"/>
                <a:ea typeface="+mn-ea"/>
              </a:rPr>
              <a:t>본 문서는 ㈜스마일게이트의 자산으로 저작권은 스마일게이트에 있으며</a:t>
            </a:r>
            <a:r>
              <a:rPr lang="en-US" altLang="ko-KR" sz="8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8C8C8"/>
                </a:solidFill>
                <a:latin typeface="+mn-ea"/>
                <a:ea typeface="+mn-ea"/>
              </a:rPr>
              <a:t>, </a:t>
            </a:r>
            <a:r>
              <a:rPr lang="ko-KR" altLang="en-US" sz="8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8C8C8"/>
                </a:solidFill>
                <a:latin typeface="+mn-ea"/>
                <a:ea typeface="+mn-ea"/>
              </a:rPr>
              <a:t>임의로 복사되거나</a:t>
            </a:r>
            <a:r>
              <a:rPr lang="en-US" altLang="ko-KR" sz="8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8C8C8"/>
                </a:solidFill>
                <a:latin typeface="+mn-ea"/>
                <a:ea typeface="+mn-ea"/>
              </a:rPr>
              <a:t> </a:t>
            </a:r>
            <a:r>
              <a:rPr lang="ko-KR" altLang="en-US" sz="8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8C8C8"/>
                </a:solidFill>
                <a:latin typeface="+mn-ea"/>
                <a:ea typeface="+mn-ea"/>
              </a:rPr>
              <a:t>배포 될 수 없습니다</a:t>
            </a:r>
            <a:r>
              <a:rPr lang="en-US" altLang="ko-KR" sz="8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8C8C8"/>
                </a:solidFill>
                <a:latin typeface="+mn-ea"/>
                <a:ea typeface="+mn-ea"/>
              </a:rPr>
              <a:t>.</a:t>
            </a:r>
            <a:br>
              <a:rPr lang="en-US" altLang="ko-KR" sz="9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8C8C8"/>
                </a:solidFill>
                <a:latin typeface="+mn-ea"/>
                <a:ea typeface="+mn-ea"/>
              </a:rPr>
            </a:br>
            <a:r>
              <a:rPr lang="en-US" altLang="ko-KR" sz="9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8C8C8"/>
                </a:solidFill>
                <a:latin typeface="+mn-ea"/>
                <a:ea typeface="+mn-ea"/>
              </a:rPr>
              <a:t>※ </a:t>
            </a: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8C8C8"/>
                </a:solidFill>
                <a:latin typeface="+mn-ea"/>
                <a:ea typeface="+mn-ea"/>
              </a:rPr>
              <a:t>This document is the Smilegate Group rights to the assets of the Smilegate, and can not be arbitrarily copied or distributed.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08162E2-1360-521F-38BE-DFF6BF3F79A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770" y="517113"/>
            <a:ext cx="1079498" cy="22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100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6971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3944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0915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7885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1313" indent="-34131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344" indent="-228485" algn="l" defTabSz="913944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314" indent="-228485" algn="l" defTabSz="913944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286" indent="-228485" algn="l" defTabSz="913944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256" indent="-228485" algn="l" defTabSz="913944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394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944" algn="l" defTabSz="91394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5" algn="l" defTabSz="91394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5" algn="l" defTabSz="91394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6" algn="l" defTabSz="91394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7" algn="l" defTabSz="91394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B2401B-F444-44FB-1D03-31F1B784B2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70000"/>
          </a:blip>
          <a:srcRect l="1373" r="1373" b="62501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62837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</p:sldLayoutIdLst>
  <p:hf hdr="0" ftr="0" dt="0"/>
  <p:txStyles>
    <p:titleStyle>
      <a:lvl1pPr algn="ctr" defTabSz="1028700" rtl="0" eaLnBrk="0" fontAlgn="base" latinLnBrk="1" hangingPunct="0">
        <a:spcBef>
          <a:spcPct val="0"/>
        </a:spcBef>
        <a:spcAft>
          <a:spcPct val="0"/>
        </a:spcAft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1028700" rtl="0" eaLnBrk="0" fontAlgn="base" latinLnBrk="1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defTabSz="1028700" rtl="0" eaLnBrk="0" fontAlgn="base" latinLnBrk="1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defTabSz="1028700" rtl="0" eaLnBrk="0" fontAlgn="base" latinLnBrk="1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defTabSz="1028700" rtl="0" eaLnBrk="0" fontAlgn="base" latinLnBrk="1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6971" algn="ctr" defTabSz="1029773" rtl="0" fontAlgn="base" latinLnBrk="1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3944" algn="ctr" defTabSz="1029773" rtl="0" fontAlgn="base" latinLnBrk="1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0915" algn="ctr" defTabSz="1029773" rtl="0" fontAlgn="base" latinLnBrk="1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7885" algn="ctr" defTabSz="1029773" rtl="0" fontAlgn="base" latinLnBrk="1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84175" indent="-384175" algn="l" defTabSz="1028700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35025" indent="-320675" algn="l" defTabSz="1028700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287463" indent="-255588" algn="l" defTabSz="1028700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803400" indent="-255588" algn="l" defTabSz="1028700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19338" indent="-255588" algn="l" defTabSz="1028700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35508" indent="-257776" algn="l" defTabSz="1031094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51054" indent="-257776" algn="l" defTabSz="1031094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866603" indent="-257776" algn="l" defTabSz="1031094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382151" indent="-257776" algn="l" defTabSz="1031094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31094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5546" algn="l" defTabSz="1031094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31094" algn="l" defTabSz="1031094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46641" algn="l" defTabSz="1031094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62189" algn="l" defTabSz="1031094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77734" algn="l" defTabSz="1031094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93284" algn="l" defTabSz="1031094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08829" algn="l" defTabSz="1031094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24377" algn="l" defTabSz="1031094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D93FA86B-43BD-1C96-B301-CC97F1D52F3E}"/>
              </a:ext>
            </a:extLst>
          </p:cNvPr>
          <p:cNvSpPr txBox="1"/>
          <p:nvPr/>
        </p:nvSpPr>
        <p:spPr>
          <a:xfrm>
            <a:off x="492125" y="2711795"/>
            <a:ext cx="402225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직무과제 완료보고서</a:t>
            </a:r>
          </a:p>
        </p:txBody>
      </p:sp>
      <p:grpSp>
        <p:nvGrpSpPr>
          <p:cNvPr id="26" name="그룹 1">
            <a:extLst>
              <a:ext uri="{FF2B5EF4-FFF2-40B4-BE49-F238E27FC236}">
                <a16:creationId xmlns:a16="http://schemas.microsoft.com/office/drawing/2014/main" id="{7F9362D0-0679-69B7-C7F0-D347745DC8F3}"/>
              </a:ext>
            </a:extLst>
          </p:cNvPr>
          <p:cNvGrpSpPr>
            <a:grpSpLocks/>
          </p:cNvGrpSpPr>
          <p:nvPr/>
        </p:nvGrpSpPr>
        <p:grpSpPr bwMode="auto">
          <a:xfrm>
            <a:off x="519113" y="4372781"/>
            <a:ext cx="1552593" cy="697018"/>
            <a:chOff x="393316" y="4908412"/>
            <a:chExt cx="1433775" cy="696830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F12483C-FBE4-5D7E-E0DA-899ABD15CBE0}"/>
                </a:ext>
              </a:extLst>
            </p:cNvPr>
            <p:cNvSpPr txBox="1"/>
            <p:nvPr/>
          </p:nvSpPr>
          <p:spPr>
            <a:xfrm>
              <a:off x="393316" y="4908505"/>
              <a:ext cx="526297" cy="24596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작성자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F056C02-57E1-A3DB-1CA0-D83C562D2E36}"/>
                </a:ext>
              </a:extLst>
            </p:cNvPr>
            <p:cNvSpPr txBox="1"/>
            <p:nvPr/>
          </p:nvSpPr>
          <p:spPr>
            <a:xfrm>
              <a:off x="946001" y="4908412"/>
              <a:ext cx="804113" cy="246155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박종호 이름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F4370B3-6C54-DCEC-16DC-3A0A10278311}"/>
                </a:ext>
              </a:extLst>
            </p:cNvPr>
            <p:cNvSpPr txBox="1"/>
            <p:nvPr/>
          </p:nvSpPr>
          <p:spPr>
            <a:xfrm>
              <a:off x="393316" y="5133844"/>
              <a:ext cx="407551" cy="24596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소속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E32C52E-4C17-1EF3-C4A9-194B5F88C76C}"/>
                </a:ext>
              </a:extLst>
            </p:cNvPr>
            <p:cNvSpPr txBox="1"/>
            <p:nvPr/>
          </p:nvSpPr>
          <p:spPr>
            <a:xfrm>
              <a:off x="946001" y="5133751"/>
              <a:ext cx="881090" cy="246155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리소스지원팀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4244CF1-9237-3F01-4059-500C16FEFC7A}"/>
                </a:ext>
              </a:extLst>
            </p:cNvPr>
            <p:cNvSpPr txBox="1"/>
            <p:nvPr/>
          </p:nvSpPr>
          <p:spPr>
            <a:xfrm>
              <a:off x="393316" y="5359182"/>
              <a:ext cx="526297" cy="24596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작성일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1DD55F5-4C05-6891-256A-2A8695F7ADBE}"/>
                </a:ext>
              </a:extLst>
            </p:cNvPr>
            <p:cNvSpPr txBox="1"/>
            <p:nvPr/>
          </p:nvSpPr>
          <p:spPr>
            <a:xfrm>
              <a:off x="946001" y="5359087"/>
              <a:ext cx="777468" cy="246155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2026.</a:t>
              </a:r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white">
                      <a:lumMod val="7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07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.04</a:t>
              </a:r>
              <a:endParaRPr kumimoji="0" lang="ko-KR" altLang="en-US" sz="1000" b="1" i="0" u="none" strike="noStrike" kern="120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34A517D-BA34-CB25-42E0-1EC5A98C0D63}"/>
              </a:ext>
            </a:extLst>
          </p:cNvPr>
          <p:cNvSpPr txBox="1"/>
          <p:nvPr/>
        </p:nvSpPr>
        <p:spPr>
          <a:xfrm>
            <a:off x="629342" y="1150769"/>
            <a:ext cx="11174582" cy="376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46" b="1" dirty="0"/>
              <a:t>2. </a:t>
            </a:r>
            <a:r>
              <a:rPr lang="ko-KR" altLang="en-US" sz="1846" b="1" dirty="0"/>
              <a:t>진행 결과 </a:t>
            </a:r>
            <a:r>
              <a:rPr lang="en-US" altLang="ko-KR" sz="1846" b="1" dirty="0"/>
              <a:t>(</a:t>
            </a:r>
            <a:r>
              <a:rPr lang="ko-KR" altLang="en-US" sz="1846" b="1" dirty="0"/>
              <a:t>계획했던 목표 대비 실제 달성 내용 작성</a:t>
            </a:r>
            <a:r>
              <a:rPr lang="en-US" altLang="ko-KR" sz="1846" b="1" dirty="0"/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D8FF58-E61B-000D-90FC-FC8F1D55B5A7}"/>
              </a:ext>
            </a:extLst>
          </p:cNvPr>
          <p:cNvSpPr txBox="1"/>
          <p:nvPr/>
        </p:nvSpPr>
        <p:spPr>
          <a:xfrm>
            <a:off x="629344" y="397999"/>
            <a:ext cx="4850446" cy="376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46" b="1" dirty="0"/>
              <a:t>1. </a:t>
            </a:r>
            <a:r>
              <a:rPr lang="ko-KR" altLang="en-US" sz="1846" b="1" dirty="0"/>
              <a:t>업무명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66BF5F-F508-3B69-BE56-87B69531AE8E}"/>
              </a:ext>
            </a:extLst>
          </p:cNvPr>
          <p:cNvSpPr txBox="1"/>
          <p:nvPr/>
        </p:nvSpPr>
        <p:spPr>
          <a:xfrm>
            <a:off x="629342" y="774384"/>
            <a:ext cx="102330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- Unreal Engine </a:t>
            </a:r>
            <a:r>
              <a:rPr lang="ko-KR" altLang="en-US" sz="1400" dirty="0"/>
              <a:t>기반 </a:t>
            </a:r>
            <a:r>
              <a:rPr lang="en-US" altLang="ko-KR" sz="1400" dirty="0"/>
              <a:t>FPS </a:t>
            </a:r>
            <a:r>
              <a:rPr lang="ko-KR" altLang="en-US" sz="1400" dirty="0"/>
              <a:t>멀티 플레이 샘플 구현 및 네트워크 구조 설계 역량 강화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4709D6-6329-C937-F765-1626AC7FD6B4}"/>
              </a:ext>
            </a:extLst>
          </p:cNvPr>
          <p:cNvSpPr txBox="1"/>
          <p:nvPr/>
        </p:nvSpPr>
        <p:spPr>
          <a:xfrm>
            <a:off x="774597" y="1620040"/>
            <a:ext cx="1023309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개발 목표</a:t>
            </a:r>
            <a:endParaRPr lang="en-US" altLang="ko-KR" sz="1400" dirty="0"/>
          </a:p>
          <a:p>
            <a:pPr marL="742950" lvl="1" indent="-285750">
              <a:buFontTx/>
              <a:buChar char="-"/>
            </a:pPr>
            <a:r>
              <a:rPr lang="en-US" altLang="ko-KR" sz="1400" dirty="0"/>
              <a:t>Unreal </a:t>
            </a:r>
            <a:r>
              <a:rPr lang="ko-KR" altLang="en-US" sz="1400" dirty="0"/>
              <a:t>실무 준비를 위한 </a:t>
            </a:r>
            <a:r>
              <a:rPr lang="en-US" altLang="ko-KR" sz="1400" dirty="0"/>
              <a:t>Unreal </a:t>
            </a:r>
            <a:r>
              <a:rPr lang="ko-KR" altLang="en-US" sz="1400" dirty="0"/>
              <a:t>서버 권한과 상태 복제 구조를 이해  하고 구현 역량 확보</a:t>
            </a:r>
            <a:endParaRPr lang="en-US" altLang="ko-KR" sz="1400" dirty="0"/>
          </a:p>
          <a:p>
            <a:pPr marL="742950" lvl="1" indent="-285750">
              <a:buFontTx/>
              <a:buChar char="-"/>
            </a:pPr>
            <a:r>
              <a:rPr lang="en-US" altLang="ko-KR" sz="1400" dirty="0"/>
              <a:t>Listen Server </a:t>
            </a:r>
            <a:r>
              <a:rPr lang="ko-KR" altLang="en-US" sz="1400" dirty="0"/>
              <a:t>기반 최대 </a:t>
            </a:r>
            <a:r>
              <a:rPr lang="en-US" altLang="ko-KR" sz="1400" dirty="0"/>
              <a:t>6</a:t>
            </a:r>
            <a:r>
              <a:rPr lang="ko-KR" altLang="en-US" sz="1400" dirty="0"/>
              <a:t>인</a:t>
            </a:r>
            <a:r>
              <a:rPr lang="en-US" altLang="ko-KR" sz="1400" dirty="0"/>
              <a:t>, Team A / Team B FPS  </a:t>
            </a:r>
            <a:r>
              <a:rPr lang="ko-KR" altLang="en-US" sz="1400" dirty="0"/>
              <a:t>샘플 구현</a:t>
            </a:r>
            <a:endParaRPr lang="en-US" altLang="ko-KR" sz="1400" dirty="0"/>
          </a:p>
          <a:p>
            <a:pPr marL="742950" lvl="1" indent="-285750">
              <a:buFontTx/>
              <a:buChar char="-"/>
            </a:pPr>
            <a:r>
              <a:rPr lang="ko-KR" altLang="en-US" sz="1400" dirty="0"/>
              <a:t>이동</a:t>
            </a:r>
            <a:r>
              <a:rPr lang="en-US" altLang="ko-KR" sz="1400" dirty="0"/>
              <a:t>, </a:t>
            </a:r>
            <a:r>
              <a:rPr lang="ko-KR" altLang="en-US" sz="1400" dirty="0"/>
              <a:t>전투</a:t>
            </a:r>
            <a:r>
              <a:rPr lang="en-US" altLang="ko-KR" sz="1400" dirty="0"/>
              <a:t>, </a:t>
            </a:r>
            <a:r>
              <a:rPr lang="ko-KR" altLang="en-US" sz="1400" dirty="0"/>
              <a:t>사망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리스폰</a:t>
            </a:r>
            <a:r>
              <a:rPr lang="en-US" altLang="ko-KR" sz="1400" dirty="0"/>
              <a:t>, </a:t>
            </a:r>
            <a:r>
              <a:rPr lang="ko-KR" altLang="en-US" sz="1400" dirty="0"/>
              <a:t>팀 선택</a:t>
            </a:r>
            <a:r>
              <a:rPr lang="en-US" altLang="ko-KR" sz="1400" dirty="0"/>
              <a:t>, HUD</a:t>
            </a:r>
            <a:r>
              <a:rPr lang="ko-KR" altLang="en-US" sz="1400" dirty="0"/>
              <a:t>를 서버와 클라이언트의 역할에 맞게 연결</a:t>
            </a:r>
            <a:r>
              <a:rPr lang="en-US" altLang="ko-KR" sz="1400" dirty="0"/>
              <a:t> </a:t>
            </a:r>
          </a:p>
          <a:p>
            <a:pPr marL="285750" indent="-285750">
              <a:buFontTx/>
              <a:buChar char="-"/>
            </a:pPr>
            <a:r>
              <a:rPr lang="ko-KR" altLang="en-US" sz="1400" dirty="0"/>
              <a:t>달성 내용</a:t>
            </a:r>
            <a:endParaRPr lang="en-US" altLang="ko-KR" sz="1400" dirty="0"/>
          </a:p>
          <a:p>
            <a:pPr marL="742950" lvl="1" indent="-285750">
              <a:buFontTx/>
              <a:buChar char="-"/>
            </a:pPr>
            <a:r>
              <a:rPr lang="ko-KR" altLang="en-US" sz="1400" dirty="0"/>
              <a:t>네트워크</a:t>
            </a:r>
            <a:r>
              <a:rPr lang="en-US" altLang="ko-KR" sz="1400" dirty="0"/>
              <a:t> </a:t>
            </a:r>
            <a:r>
              <a:rPr lang="ko-KR" altLang="en-US" sz="1400" dirty="0"/>
              <a:t>접속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en-US" altLang="ko-KR" sz="1400" dirty="0"/>
              <a:t>Listen Sever </a:t>
            </a:r>
            <a:r>
              <a:rPr lang="ko-KR" altLang="en-US" sz="1400" dirty="0"/>
              <a:t>접속</a:t>
            </a:r>
            <a:r>
              <a:rPr lang="en-US" altLang="ko-KR" sz="1400" dirty="0"/>
              <a:t>, </a:t>
            </a:r>
            <a:r>
              <a:rPr lang="ko-KR" altLang="en-US" sz="1400" dirty="0"/>
              <a:t>플레이어별 입력</a:t>
            </a:r>
            <a:r>
              <a:rPr lang="en-US" altLang="ko-KR" sz="1400" dirty="0"/>
              <a:t>, </a:t>
            </a:r>
            <a:r>
              <a:rPr lang="ko-KR" altLang="en-US" sz="1400" dirty="0"/>
              <a:t>캐릭터 분리</a:t>
            </a:r>
            <a:r>
              <a:rPr lang="en-US" altLang="ko-KR" sz="1400" dirty="0"/>
              <a:t> (</a:t>
            </a:r>
            <a:r>
              <a:rPr lang="ko-KR" altLang="en-US" sz="1400" dirty="0"/>
              <a:t>달성</a:t>
            </a:r>
            <a:r>
              <a:rPr lang="en-US" altLang="ko-KR" sz="1400" dirty="0"/>
              <a:t>)</a:t>
            </a:r>
          </a:p>
          <a:p>
            <a:pPr marL="742950" lvl="1" indent="-285750">
              <a:buFontTx/>
              <a:buChar char="-"/>
            </a:pPr>
            <a:r>
              <a:rPr lang="ko-KR" altLang="en-US" sz="1400" dirty="0"/>
              <a:t>기본 플레이 흐름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ko-KR" altLang="en-US" sz="1400" dirty="0"/>
              <a:t>팀 선택</a:t>
            </a:r>
            <a:r>
              <a:rPr lang="en-US" altLang="ko-KR" sz="1400" dirty="0"/>
              <a:t>,  Play,  Game Over, </a:t>
            </a:r>
            <a:r>
              <a:rPr lang="ko-KR" altLang="en-US" sz="1400" dirty="0"/>
              <a:t>결과</a:t>
            </a:r>
            <a:r>
              <a:rPr lang="en-US" altLang="ko-KR" sz="1400" dirty="0"/>
              <a:t> </a:t>
            </a:r>
            <a:r>
              <a:rPr lang="ko-KR" altLang="en-US" sz="1400" dirty="0"/>
              <a:t>흐름 구현 </a:t>
            </a:r>
            <a:r>
              <a:rPr lang="en-US" altLang="ko-KR" sz="1400" dirty="0"/>
              <a:t>(</a:t>
            </a:r>
            <a:r>
              <a:rPr lang="ko-KR" altLang="en-US" sz="1400" dirty="0"/>
              <a:t>달성</a:t>
            </a:r>
            <a:r>
              <a:rPr lang="en-US" altLang="ko-KR" sz="1400" dirty="0"/>
              <a:t>)</a:t>
            </a:r>
          </a:p>
          <a:p>
            <a:pPr marL="742950" lvl="1" indent="-285750">
              <a:buFontTx/>
              <a:buChar char="-"/>
            </a:pPr>
            <a:r>
              <a:rPr lang="ko-KR" altLang="en-US" sz="1400" dirty="0"/>
              <a:t>이동 및 </a:t>
            </a:r>
            <a:r>
              <a:rPr lang="en-US" altLang="ko-KR" sz="1400" dirty="0"/>
              <a:t>Aim </a:t>
            </a:r>
            <a:r>
              <a:rPr lang="ko-KR" altLang="en-US" sz="1400" dirty="0"/>
              <a:t>구현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ko-KR" altLang="en-US" sz="1400" dirty="0"/>
              <a:t>이동</a:t>
            </a:r>
            <a:r>
              <a:rPr lang="en-US" altLang="ko-KR" sz="1400" dirty="0"/>
              <a:t>, </a:t>
            </a:r>
            <a:r>
              <a:rPr lang="ko-KR" altLang="en-US" sz="1400" dirty="0"/>
              <a:t> </a:t>
            </a:r>
            <a:r>
              <a:rPr lang="en-US" altLang="ko-KR" sz="1400" dirty="0"/>
              <a:t>Aim, </a:t>
            </a:r>
            <a:r>
              <a:rPr lang="ko-KR" altLang="en-US" sz="1400" dirty="0"/>
              <a:t>점프</a:t>
            </a:r>
            <a:r>
              <a:rPr lang="en-US" altLang="ko-KR" sz="1400" dirty="0"/>
              <a:t>, </a:t>
            </a:r>
            <a:r>
              <a:rPr lang="ko-KR" altLang="en-US" sz="1400" dirty="0"/>
              <a:t>달리기</a:t>
            </a:r>
            <a:r>
              <a:rPr lang="en-US" altLang="ko-KR" sz="1400" dirty="0"/>
              <a:t>, RPC, ADS </a:t>
            </a:r>
            <a:r>
              <a:rPr lang="ko-KR" altLang="en-US" sz="1400" dirty="0"/>
              <a:t>및</a:t>
            </a:r>
            <a:r>
              <a:rPr lang="en-US" altLang="ko-KR" sz="1400" dirty="0"/>
              <a:t> Aim Offset</a:t>
            </a:r>
            <a:r>
              <a:rPr lang="ko-KR" altLang="en-US" sz="1400" dirty="0"/>
              <a:t>연결</a:t>
            </a:r>
            <a:r>
              <a:rPr lang="en-US" altLang="ko-KR" sz="1400" dirty="0"/>
              <a:t>(</a:t>
            </a:r>
            <a:r>
              <a:rPr lang="ko-KR" altLang="en-US" sz="1400" dirty="0"/>
              <a:t>달성</a:t>
            </a:r>
            <a:r>
              <a:rPr lang="en-US" altLang="ko-KR" sz="1400" dirty="0"/>
              <a:t>)</a:t>
            </a:r>
          </a:p>
          <a:p>
            <a:pPr marL="742950" lvl="1" indent="-285750">
              <a:buFontTx/>
              <a:buChar char="-"/>
            </a:pPr>
            <a:r>
              <a:rPr lang="ko-KR" altLang="en-US" sz="1400" dirty="0"/>
              <a:t>서버 요소 처리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ko-KR" altLang="en-US" sz="1400" dirty="0"/>
              <a:t>서버 발사</a:t>
            </a:r>
            <a:r>
              <a:rPr lang="en-US" altLang="ko-KR" sz="1400" dirty="0"/>
              <a:t>, Projectile </a:t>
            </a:r>
            <a:r>
              <a:rPr lang="ko-KR" altLang="ko-KR" sz="1400" dirty="0" err="1"/>
              <a:t>생성·충돌·피해</a:t>
            </a:r>
            <a:r>
              <a:rPr lang="en-US" altLang="ko-KR" sz="1400" dirty="0"/>
              <a:t>, Object</a:t>
            </a:r>
            <a:r>
              <a:rPr lang="ko-KR" altLang="en-US" sz="1400" dirty="0"/>
              <a:t> </a:t>
            </a:r>
            <a:r>
              <a:rPr lang="en-US" altLang="ko-KR" sz="1400" dirty="0"/>
              <a:t>Pool </a:t>
            </a:r>
            <a:r>
              <a:rPr lang="ko-KR" altLang="en-US" sz="1400" dirty="0"/>
              <a:t>재사용 </a:t>
            </a:r>
            <a:r>
              <a:rPr lang="en-US" altLang="ko-KR" sz="1400" dirty="0"/>
              <a:t>(</a:t>
            </a:r>
            <a:r>
              <a:rPr lang="ko-KR" altLang="en-US" sz="1400" dirty="0"/>
              <a:t>달성</a:t>
            </a:r>
            <a:r>
              <a:rPr lang="en-US" altLang="ko-KR" sz="1400" dirty="0"/>
              <a:t>)</a:t>
            </a:r>
          </a:p>
          <a:p>
            <a:pPr marL="1200150" lvl="2" indent="-285750">
              <a:buFontTx/>
              <a:buChar char="-"/>
            </a:pPr>
            <a:r>
              <a:rPr lang="ko-KR" altLang="en-US" sz="1400" dirty="0"/>
              <a:t>서버 탄약 차감</a:t>
            </a:r>
            <a:r>
              <a:rPr lang="en-US" altLang="ko-KR" sz="1400" dirty="0"/>
              <a:t>, </a:t>
            </a:r>
            <a:r>
              <a:rPr lang="ko-KR" altLang="en-US" sz="1400" dirty="0"/>
              <a:t>재 장전 처리</a:t>
            </a:r>
            <a:r>
              <a:rPr lang="en-US" altLang="ko-KR" sz="1400" dirty="0"/>
              <a:t>, HUD </a:t>
            </a:r>
            <a:r>
              <a:rPr lang="ko-KR" altLang="en-US" sz="1400" dirty="0"/>
              <a:t>갱신 </a:t>
            </a:r>
            <a:r>
              <a:rPr lang="en-US" altLang="ko-KR" sz="1400" dirty="0"/>
              <a:t>(</a:t>
            </a:r>
            <a:r>
              <a:rPr lang="ko-KR" altLang="en-US" sz="1400" dirty="0"/>
              <a:t>달성</a:t>
            </a:r>
            <a:r>
              <a:rPr lang="en-US" altLang="ko-KR" sz="1400" dirty="0"/>
              <a:t>)</a:t>
            </a:r>
          </a:p>
          <a:p>
            <a:pPr marL="1200150" lvl="2" indent="-285750">
              <a:buFontTx/>
              <a:buChar char="-"/>
            </a:pPr>
            <a:r>
              <a:rPr lang="ko-KR" altLang="en-US" sz="1400" dirty="0"/>
              <a:t>서버 사망</a:t>
            </a:r>
            <a:r>
              <a:rPr lang="en-US" altLang="ko-KR" sz="1400" dirty="0"/>
              <a:t>,</a:t>
            </a:r>
            <a:r>
              <a:rPr lang="ko-KR" altLang="en-US" sz="1400" dirty="0"/>
              <a:t> </a:t>
            </a:r>
            <a:r>
              <a:rPr lang="ko-KR" altLang="en-US" sz="1400" dirty="0" err="1"/>
              <a:t>리스폰</a:t>
            </a:r>
            <a:r>
              <a:rPr lang="ko-KR" altLang="en-US" sz="1400" dirty="0"/>
              <a:t> 처리</a:t>
            </a:r>
            <a:r>
              <a:rPr lang="en-US" altLang="ko-KR" sz="1400" dirty="0"/>
              <a:t>, </a:t>
            </a:r>
            <a:r>
              <a:rPr lang="ko-KR" altLang="en-US" sz="1400" dirty="0"/>
              <a:t>팀 유지 및 현재 스코어 유지</a:t>
            </a:r>
            <a:r>
              <a:rPr lang="en-US" altLang="ko-KR" sz="1400" dirty="0"/>
              <a:t>(</a:t>
            </a:r>
            <a:r>
              <a:rPr lang="ko-KR" altLang="en-US" sz="1400" dirty="0"/>
              <a:t>달성</a:t>
            </a:r>
            <a:r>
              <a:rPr lang="en-US" altLang="ko-KR" sz="1400" dirty="0"/>
              <a:t>)</a:t>
            </a:r>
            <a:endParaRPr lang="ko-KR" altLang="ko-KR" sz="1400" dirty="0"/>
          </a:p>
          <a:p>
            <a:pPr marL="1200150" lvl="2" indent="-285750">
              <a:buFontTx/>
              <a:buChar char="-"/>
            </a:pPr>
            <a:r>
              <a:rPr lang="ko-KR" altLang="en-US" sz="1400" dirty="0"/>
              <a:t>사용자 </a:t>
            </a:r>
            <a:r>
              <a:rPr lang="en-US" altLang="ko-KR" sz="1400" dirty="0"/>
              <a:t>A / B </a:t>
            </a:r>
            <a:r>
              <a:rPr lang="ko-KR" altLang="en-US" sz="1400" dirty="0"/>
              <a:t>팀 선택과 서버 승인</a:t>
            </a:r>
            <a:r>
              <a:rPr lang="en-US" altLang="ko-KR" sz="1400" dirty="0"/>
              <a:t>, </a:t>
            </a:r>
            <a:r>
              <a:rPr lang="ko-KR" altLang="en-US" sz="1400" dirty="0"/>
              <a:t>해당 팀 시작 지점 </a:t>
            </a:r>
            <a:r>
              <a:rPr lang="ko-KR" altLang="en-US" sz="1400" dirty="0" err="1"/>
              <a:t>스폰</a:t>
            </a:r>
            <a:r>
              <a:rPr lang="en-US" altLang="ko-KR" sz="1400" dirty="0"/>
              <a:t> </a:t>
            </a:r>
            <a:r>
              <a:rPr lang="ko-KR" altLang="en-US" sz="1400" dirty="0"/>
              <a:t>및 대기</a:t>
            </a:r>
            <a:r>
              <a:rPr lang="en-US" altLang="ko-KR" sz="1400" dirty="0"/>
              <a:t>(</a:t>
            </a:r>
            <a:r>
              <a:rPr lang="ko-KR" altLang="en-US" sz="1400" dirty="0"/>
              <a:t>달성</a:t>
            </a:r>
            <a:r>
              <a:rPr lang="en-US" altLang="ko-KR" sz="1400" dirty="0"/>
              <a:t>)</a:t>
            </a:r>
          </a:p>
          <a:p>
            <a:pPr marL="1200150" lvl="2" indent="-285750">
              <a:buFontTx/>
              <a:buChar char="-"/>
            </a:pPr>
            <a:r>
              <a:rPr lang="en-US" altLang="ko-KR" sz="1400" dirty="0"/>
              <a:t>UI </a:t>
            </a:r>
            <a:r>
              <a:rPr lang="ko-KR" altLang="en-US" sz="1400" dirty="0"/>
              <a:t>정보 공유</a:t>
            </a:r>
            <a:r>
              <a:rPr lang="en-US" altLang="ko-KR" sz="1400" dirty="0"/>
              <a:t>, HP,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싈드</a:t>
            </a:r>
            <a:r>
              <a:rPr lang="ko-KR" altLang="en-US" sz="1400" dirty="0"/>
              <a:t> 수치</a:t>
            </a:r>
            <a:r>
              <a:rPr lang="en-US" altLang="ko-KR" sz="1400" dirty="0"/>
              <a:t>, </a:t>
            </a:r>
            <a:r>
              <a:rPr lang="ko-KR" altLang="en-US" sz="1400" dirty="0"/>
              <a:t>팀 마커</a:t>
            </a:r>
            <a:r>
              <a:rPr lang="en-US" altLang="ko-KR" sz="1400" dirty="0"/>
              <a:t>, </a:t>
            </a:r>
            <a:r>
              <a:rPr lang="ko-KR" altLang="en-US" sz="1400" dirty="0"/>
              <a:t>팀 점수 등 처리</a:t>
            </a:r>
            <a:r>
              <a:rPr lang="en-US" altLang="ko-KR" sz="1400" dirty="0"/>
              <a:t>(</a:t>
            </a:r>
            <a:r>
              <a:rPr lang="ko-KR" altLang="en-US" sz="1400" dirty="0"/>
              <a:t>달성</a:t>
            </a:r>
            <a:r>
              <a:rPr lang="en-US" altLang="ko-KR" sz="1400" dirty="0"/>
              <a:t>)</a:t>
            </a:r>
          </a:p>
          <a:p>
            <a:pPr marL="1200150" lvl="2" indent="-285750">
              <a:buFontTx/>
              <a:buChar char="-"/>
            </a:pPr>
            <a:r>
              <a:rPr lang="ko-KR" altLang="en-US" sz="1400" dirty="0"/>
              <a:t>접속 상태 관리</a:t>
            </a:r>
            <a:r>
              <a:rPr lang="en-US" altLang="ko-KR" sz="1400" dirty="0"/>
              <a:t> </a:t>
            </a:r>
            <a:r>
              <a:rPr lang="en-US" altLang="ko-KR" sz="1400" dirty="0" err="1"/>
              <a:t>LogOut</a:t>
            </a:r>
            <a:r>
              <a:rPr lang="en-US" altLang="ko-KR" sz="1400" dirty="0"/>
              <a:t> </a:t>
            </a:r>
            <a:r>
              <a:rPr lang="ko-KR" altLang="en-US" sz="1400" dirty="0"/>
              <a:t>정리</a:t>
            </a:r>
            <a:r>
              <a:rPr lang="en-US" altLang="ko-KR" sz="1400" dirty="0"/>
              <a:t> </a:t>
            </a:r>
            <a:r>
              <a:rPr lang="ko-KR" altLang="en-US" sz="1400" dirty="0"/>
              <a:t>및 재 접속 재접속시</a:t>
            </a:r>
            <a:r>
              <a:rPr lang="en-US" altLang="ko-KR" sz="1400" dirty="0"/>
              <a:t> </a:t>
            </a:r>
            <a:r>
              <a:rPr lang="ko-KR" altLang="en-US" sz="1400" dirty="0"/>
              <a:t>해당 게임 상황 적용</a:t>
            </a:r>
            <a:r>
              <a:rPr lang="en-US" altLang="ko-KR" sz="1400" dirty="0"/>
              <a:t>(Score </a:t>
            </a:r>
            <a:r>
              <a:rPr lang="ko-KR" altLang="en-US" sz="1400" dirty="0"/>
              <a:t>및 유저 상황 복사본 적용</a:t>
            </a:r>
            <a:r>
              <a:rPr lang="en-US" altLang="ko-KR" sz="1400" dirty="0"/>
              <a:t>)(</a:t>
            </a:r>
            <a:r>
              <a:rPr lang="ko-KR" altLang="en-US" sz="1400" dirty="0"/>
              <a:t>달성</a:t>
            </a:r>
            <a:r>
              <a:rPr lang="en-US" altLang="ko-KR" sz="1400" dirty="0"/>
              <a:t>)</a:t>
            </a:r>
          </a:p>
          <a:p>
            <a:pPr marL="742950" lvl="1" indent="-285750">
              <a:buFontTx/>
              <a:buChar char="-"/>
            </a:pPr>
            <a:r>
              <a:rPr lang="ko-KR" altLang="en-US" sz="1400" dirty="0"/>
              <a:t>보호막 작업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ko-KR" altLang="en-US" sz="1400" dirty="0" err="1"/>
              <a:t>쉴드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스탯</a:t>
            </a:r>
            <a:r>
              <a:rPr lang="ko-KR" altLang="en-US" sz="1400" dirty="0"/>
              <a:t> 생성</a:t>
            </a:r>
            <a:r>
              <a:rPr lang="en-US" altLang="ko-KR" sz="1400" dirty="0"/>
              <a:t> </a:t>
            </a:r>
            <a:r>
              <a:rPr lang="ko-KR" altLang="en-US" sz="1400" dirty="0"/>
              <a:t>피해 흡수 및 </a:t>
            </a:r>
            <a:r>
              <a:rPr lang="en-US" altLang="ko-KR" sz="1400" dirty="0"/>
              <a:t>HUD </a:t>
            </a:r>
            <a:r>
              <a:rPr lang="ko-KR" altLang="en-US" sz="1400" dirty="0"/>
              <a:t>표시 적용 서버 연동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841606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DDE770E-1E8D-3DA7-8B94-615BFDC947A3}"/>
              </a:ext>
            </a:extLst>
          </p:cNvPr>
          <p:cNvSpPr txBox="1"/>
          <p:nvPr/>
        </p:nvSpPr>
        <p:spPr>
          <a:xfrm>
            <a:off x="678428" y="427235"/>
            <a:ext cx="9280948" cy="377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50" b="1" dirty="0">
                <a:solidFill/>
              </a:rPr>
              <a:t>3. </a:t>
            </a:r>
            <a:r>
              <a:rPr lang="ko-KR" altLang="en-US" sz="1850" b="1" dirty="0"/>
              <a:t>성과 </a:t>
            </a:r>
            <a:r>
              <a:rPr lang="en-US" altLang="ko-KR" sz="1850" b="1" dirty="0"/>
              <a:t>(</a:t>
            </a:r>
            <a:r>
              <a:rPr lang="ko-KR" altLang="en-US" sz="1850" b="1" dirty="0"/>
              <a:t>기대효과 대비 달성한 내용 작성</a:t>
            </a:r>
            <a:r>
              <a:rPr lang="en-US" altLang="ko-KR" sz="1850" b="1" dirty="0"/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4A8B04-132D-6E2A-4AC4-A6C345D75C13}"/>
              </a:ext>
            </a:extLst>
          </p:cNvPr>
          <p:cNvSpPr txBox="1"/>
          <p:nvPr/>
        </p:nvSpPr>
        <p:spPr>
          <a:xfrm>
            <a:off x="678428" y="3428056"/>
            <a:ext cx="8509014" cy="376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46" b="1" dirty="0"/>
              <a:t>4. </a:t>
            </a:r>
            <a:r>
              <a:rPr lang="ko-KR" altLang="en-US" sz="1846" b="1" dirty="0"/>
              <a:t>업무일정 </a:t>
            </a:r>
            <a:r>
              <a:rPr lang="en-US" altLang="ko-KR" sz="1846" b="1" dirty="0"/>
              <a:t>(</a:t>
            </a:r>
            <a:r>
              <a:rPr lang="ko-KR" altLang="en-US" sz="1846" b="1" dirty="0"/>
              <a:t>실제 업무 일정</a:t>
            </a:r>
            <a:r>
              <a:rPr lang="en-US" altLang="ko-KR" sz="1846" b="1" dirty="0"/>
              <a:t>)</a:t>
            </a:r>
            <a:endParaRPr lang="ko-KR" altLang="en-US" sz="1846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F97E7C-0D9C-4B1F-083D-4D6AE09C9CE6}"/>
              </a:ext>
            </a:extLst>
          </p:cNvPr>
          <p:cNvSpPr txBox="1"/>
          <p:nvPr/>
        </p:nvSpPr>
        <p:spPr>
          <a:xfrm>
            <a:off x="678428" y="3804441"/>
            <a:ext cx="1023309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100" dirty="0"/>
              <a:t>2026-09-28~2026-10-01</a:t>
            </a:r>
          </a:p>
          <a:p>
            <a:pPr marL="742950" lvl="1" indent="-285750">
              <a:buFontTx/>
              <a:buChar char="-"/>
            </a:pPr>
            <a:r>
              <a:rPr lang="en-US" altLang="ko-KR" sz="1100" dirty="0"/>
              <a:t>Unreal Engine </a:t>
            </a:r>
            <a:r>
              <a:rPr lang="ko-KR" altLang="en-US" sz="1100" dirty="0"/>
              <a:t>기반 멀티 플레이 기초 학습 및  접속 환경 구성</a:t>
            </a:r>
            <a:r>
              <a:rPr lang="en-US" altLang="ko-KR" sz="1100" dirty="0"/>
              <a:t>, </a:t>
            </a:r>
            <a:r>
              <a:rPr lang="ko-KR" altLang="en-US" sz="1100" dirty="0"/>
              <a:t> </a:t>
            </a:r>
            <a:r>
              <a:rPr lang="en-US" altLang="ko-KR" sz="1100" dirty="0" err="1"/>
              <a:t>Project_Z</a:t>
            </a:r>
            <a:r>
              <a:rPr lang="en-US" altLang="ko-KR" sz="1100" dirty="0"/>
              <a:t> </a:t>
            </a:r>
            <a:r>
              <a:rPr lang="ko-KR" altLang="en-US" sz="1100" dirty="0"/>
              <a:t>재 사용 범위 체크 및 주요 설계 확인</a:t>
            </a:r>
            <a:br>
              <a:rPr lang="en-US" altLang="ko-KR" sz="1100" dirty="0"/>
            </a:br>
            <a:r>
              <a:rPr lang="ko-KR" altLang="en-US" sz="1100" dirty="0"/>
              <a:t>간단한 통신 테스트</a:t>
            </a:r>
            <a:r>
              <a:rPr lang="en-US" altLang="ko-KR" sz="1100" dirty="0"/>
              <a:t>(Log </a:t>
            </a:r>
            <a:r>
              <a:rPr lang="ko-KR" altLang="en-US" sz="1100" dirty="0"/>
              <a:t>추가 및 테스트</a:t>
            </a:r>
            <a:r>
              <a:rPr lang="en-US" altLang="ko-KR" sz="1100" dirty="0"/>
              <a:t>)</a:t>
            </a:r>
          </a:p>
          <a:p>
            <a:pPr marL="285750" indent="-285750">
              <a:buFontTx/>
              <a:buChar char="-"/>
            </a:pPr>
            <a:r>
              <a:rPr lang="en-US" altLang="ko-KR" sz="1100" dirty="0"/>
              <a:t>2026-10-02 ~ 2026-10-13</a:t>
            </a:r>
          </a:p>
          <a:p>
            <a:pPr marL="742950" lvl="1" indent="-285750">
              <a:buFontTx/>
              <a:buChar char="-"/>
            </a:pPr>
            <a:r>
              <a:rPr lang="ko-KR" altLang="en-US" sz="1100" dirty="0"/>
              <a:t>기초 설계 수정 및 환경 구성</a:t>
            </a:r>
            <a:endParaRPr lang="en-US" altLang="ko-KR" sz="1100" dirty="0"/>
          </a:p>
          <a:p>
            <a:pPr marL="1200150" lvl="2" indent="-285750">
              <a:buFontTx/>
              <a:buChar char="-"/>
            </a:pPr>
            <a:r>
              <a:rPr lang="en-US" altLang="ko-KR" sz="1100" dirty="0" err="1"/>
              <a:t>NewMap</a:t>
            </a:r>
            <a:r>
              <a:rPr lang="en-US" altLang="ko-KR" sz="1100" dirty="0"/>
              <a:t> </a:t>
            </a:r>
            <a:r>
              <a:rPr lang="ko-KR" altLang="en-US" sz="1100" dirty="0"/>
              <a:t>생성</a:t>
            </a:r>
            <a:r>
              <a:rPr lang="en-US" altLang="ko-KR" sz="1100" dirty="0"/>
              <a:t>, </a:t>
            </a:r>
            <a:r>
              <a:rPr lang="ko-KR" altLang="en-US" sz="1100" dirty="0"/>
              <a:t>멀티용 </a:t>
            </a:r>
            <a:r>
              <a:rPr lang="en-US" altLang="ko-KR" sz="1100" dirty="0"/>
              <a:t>Blueprint </a:t>
            </a:r>
            <a:r>
              <a:rPr lang="ko-KR" altLang="en-US" sz="1100" dirty="0"/>
              <a:t>파일들 생성</a:t>
            </a:r>
            <a:endParaRPr lang="en-US" altLang="ko-KR" sz="1100" dirty="0"/>
          </a:p>
          <a:p>
            <a:pPr marL="1200150" lvl="2" indent="-285750">
              <a:buFontTx/>
              <a:buChar char="-"/>
            </a:pPr>
            <a:r>
              <a:rPr lang="en-US" altLang="ko-KR" sz="1100" dirty="0" err="1"/>
              <a:t>Project_Z</a:t>
            </a:r>
            <a:r>
              <a:rPr lang="en-US" altLang="ko-KR" sz="1100" dirty="0"/>
              <a:t> </a:t>
            </a:r>
            <a:r>
              <a:rPr lang="ko-KR" altLang="en-US" sz="1100" dirty="0"/>
              <a:t>주요 </a:t>
            </a:r>
            <a:r>
              <a:rPr lang="en-US" altLang="ko-KR" sz="1100" dirty="0"/>
              <a:t>Class(</a:t>
            </a:r>
            <a:r>
              <a:rPr lang="en-US" altLang="ko-KR" sz="1100" dirty="0" err="1"/>
              <a:t>GameMode</a:t>
            </a:r>
            <a:r>
              <a:rPr lang="en-US" altLang="ko-KR" sz="1100" dirty="0"/>
              <a:t>, </a:t>
            </a:r>
            <a:r>
              <a:rPr lang="en-US" altLang="ko-KR" sz="1100" dirty="0" err="1"/>
              <a:t>PlayerControoler</a:t>
            </a:r>
            <a:r>
              <a:rPr lang="en-US" altLang="ko-KR" sz="1100" dirty="0"/>
              <a:t>, Character, Enemy, Asset, </a:t>
            </a:r>
            <a:r>
              <a:rPr lang="en-US" altLang="ko-KR" sz="1100" dirty="0" err="1"/>
              <a:t>DataTable</a:t>
            </a:r>
            <a:r>
              <a:rPr lang="en-US" altLang="ko-KR" sz="1100" dirty="0"/>
              <a:t>) </a:t>
            </a:r>
            <a:r>
              <a:rPr lang="ko-KR" altLang="en-US" sz="1100" dirty="0"/>
              <a:t>수정 및 설계 </a:t>
            </a:r>
            <a:endParaRPr lang="en-US" altLang="ko-KR" sz="1100" dirty="0"/>
          </a:p>
          <a:p>
            <a:pPr marL="1200150" lvl="2" indent="-285750">
              <a:buFontTx/>
              <a:buChar char="-"/>
            </a:pPr>
            <a:r>
              <a:rPr lang="en-US" altLang="ko-KR" sz="1200" dirty="0"/>
              <a:t>Listen Server </a:t>
            </a:r>
            <a:r>
              <a:rPr lang="ko-KR" altLang="ko-KR" sz="1200" dirty="0"/>
              <a:t>기반</a:t>
            </a:r>
            <a:r>
              <a:rPr lang="en-US" altLang="ko-KR" sz="1200" dirty="0"/>
              <a:t> 2</a:t>
            </a:r>
            <a:r>
              <a:rPr lang="ko-KR" altLang="ko-KR" sz="1200" dirty="0"/>
              <a:t>인 접속 캐릭터 생성 확인 및 로그 추가</a:t>
            </a:r>
            <a:r>
              <a:rPr lang="en-US" altLang="ko-KR" sz="1200" dirty="0"/>
              <a:t>, Authority, Ownership </a:t>
            </a:r>
            <a:r>
              <a:rPr lang="ko-KR" altLang="ko-KR" sz="1200" dirty="0"/>
              <a:t>로컬 제어 및 </a:t>
            </a:r>
            <a:r>
              <a:rPr lang="ko-KR" altLang="ko-KR" sz="1200" dirty="0" err="1"/>
              <a:t>원격프로시저콜</a:t>
            </a:r>
            <a:r>
              <a:rPr lang="en-US" altLang="ko-KR" sz="1200" dirty="0"/>
              <a:t>(RPC) </a:t>
            </a:r>
            <a:r>
              <a:rPr lang="ko-KR" altLang="ko-KR" sz="1200" dirty="0"/>
              <a:t>요청 및 흐름 확인</a:t>
            </a:r>
          </a:p>
          <a:p>
            <a:pPr lvl="2"/>
            <a:r>
              <a:rPr lang="ko-KR" altLang="ko-KR" sz="1200" dirty="0"/>
              <a:t>이동 및 조준 기능 연동 및</a:t>
            </a:r>
            <a:r>
              <a:rPr lang="en-US" altLang="ko-KR" sz="1200" dirty="0"/>
              <a:t>  Movement, Collision</a:t>
            </a:r>
            <a:r>
              <a:rPr lang="ko-KR" altLang="ko-KR" sz="1200" dirty="0"/>
              <a:t>등 네트워크 동작 확인</a:t>
            </a:r>
          </a:p>
          <a:p>
            <a:pPr lvl="2"/>
            <a:r>
              <a:rPr lang="en-US" altLang="ko-KR" sz="1200" dirty="0"/>
              <a:t>Replication, </a:t>
            </a:r>
            <a:r>
              <a:rPr lang="en-US" altLang="ko-KR" sz="1200" dirty="0" err="1"/>
              <a:t>RepNotify</a:t>
            </a:r>
            <a:r>
              <a:rPr lang="ko-KR" altLang="ko-KR" sz="1200" dirty="0"/>
              <a:t>를 활용한 서버 상태 변경 및 클라이언트 반영 테스트</a:t>
            </a:r>
            <a:r>
              <a:rPr lang="en-US" altLang="ko-KR" sz="1200" dirty="0"/>
              <a:t>(log</a:t>
            </a:r>
            <a:r>
              <a:rPr lang="ko-KR" altLang="en-US" sz="1200" dirty="0"/>
              <a:t> 추가 및 테스트</a:t>
            </a:r>
            <a:r>
              <a:rPr lang="en-US" altLang="ko-KR" sz="1200" dirty="0"/>
              <a:t>)</a:t>
            </a:r>
            <a:endParaRPr lang="ko-KR" altLang="ko-KR" sz="1200" dirty="0"/>
          </a:p>
          <a:p>
            <a:pPr marL="285750" indent="-285750">
              <a:buFontTx/>
              <a:buChar char="-"/>
            </a:pPr>
            <a:r>
              <a:rPr lang="en-US" altLang="ko-KR" sz="1100" dirty="0"/>
              <a:t>2026-10-14~2026-10-20</a:t>
            </a:r>
          </a:p>
          <a:p>
            <a:pPr marL="742950" lvl="1" indent="-285750">
              <a:buFontTx/>
              <a:buChar char="-"/>
            </a:pPr>
            <a:r>
              <a:rPr lang="ko-KR" altLang="en-US" sz="1100" dirty="0"/>
              <a:t>서버 중심의 </a:t>
            </a:r>
            <a:r>
              <a:rPr lang="ko-KR" altLang="en-US" sz="1100" dirty="0" err="1"/>
              <a:t>중심의</a:t>
            </a:r>
            <a:r>
              <a:rPr lang="ko-KR" altLang="en-US" sz="1100" dirty="0"/>
              <a:t> 전투 처리 및 동기화</a:t>
            </a:r>
            <a:endParaRPr lang="en-US" altLang="ko-KR" sz="1100" dirty="0"/>
          </a:p>
          <a:p>
            <a:pPr marL="1200150" lvl="2" indent="-285750">
              <a:buFontTx/>
              <a:buChar char="-"/>
            </a:pPr>
            <a:r>
              <a:rPr lang="ko-KR" altLang="en-US" sz="1100" dirty="0"/>
              <a:t>기본 발사 흐름을 서버 발사 요청으로 수정</a:t>
            </a:r>
            <a:r>
              <a:rPr lang="en-US" altLang="ko-KR" sz="1100" dirty="0"/>
              <a:t>, </a:t>
            </a:r>
            <a:r>
              <a:rPr lang="ko-KR" altLang="en-US" sz="1100" dirty="0"/>
              <a:t>발사 기능 상태</a:t>
            </a:r>
            <a:r>
              <a:rPr lang="en-US" altLang="ko-KR" sz="1100" dirty="0"/>
              <a:t>, </a:t>
            </a:r>
            <a:r>
              <a:rPr lang="ko-KR" altLang="en-US" sz="1100" dirty="0"/>
              <a:t>발사체 </a:t>
            </a:r>
            <a:r>
              <a:rPr lang="ko-KR" altLang="en-US" sz="1100" dirty="0" err="1"/>
              <a:t>스폰등</a:t>
            </a:r>
            <a:endParaRPr lang="en-US" altLang="ko-KR" sz="1100" dirty="0"/>
          </a:p>
          <a:p>
            <a:pPr marL="1200150" lvl="2" indent="-285750">
              <a:buFontTx/>
              <a:buChar char="-"/>
            </a:pPr>
            <a:r>
              <a:rPr lang="ko-KR" altLang="en-US" sz="1100" dirty="0"/>
              <a:t>서버 히트 처리 판정 및 조준 반향 피격 대상 장애물 </a:t>
            </a:r>
            <a:r>
              <a:rPr lang="ko-KR" altLang="en-US" sz="1100" dirty="0" err="1"/>
              <a:t>차단등</a:t>
            </a:r>
            <a:r>
              <a:rPr lang="ko-KR" altLang="en-US" sz="1100" dirty="0"/>
              <a:t> 테스트</a:t>
            </a:r>
            <a:endParaRPr lang="en-US" altLang="ko-KR" sz="1100" dirty="0"/>
          </a:p>
          <a:p>
            <a:pPr marL="1200150" lvl="2" indent="-285750">
              <a:buFontTx/>
              <a:buChar char="-"/>
            </a:pPr>
            <a:r>
              <a:rPr lang="ko-KR" altLang="en-US" sz="1100" dirty="0"/>
              <a:t>피해 차감 처리 및 </a:t>
            </a:r>
            <a:r>
              <a:rPr lang="ko-KR" altLang="en-US" sz="1100" dirty="0" err="1"/>
              <a:t>스폰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리스폰</a:t>
            </a:r>
            <a:r>
              <a:rPr lang="en-US" altLang="ko-KR" sz="1100" dirty="0"/>
              <a:t>, </a:t>
            </a:r>
            <a:r>
              <a:rPr lang="ko-KR" altLang="en-US" sz="1100" dirty="0"/>
              <a:t>움직임</a:t>
            </a:r>
            <a:r>
              <a:rPr lang="en-US" altLang="ko-KR" sz="1100" dirty="0"/>
              <a:t>, HUD </a:t>
            </a:r>
            <a:r>
              <a:rPr lang="ko-KR" altLang="en-US" sz="1100" dirty="0"/>
              <a:t>표시 등 처리  흐름 처리 및 동기화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24DDF8-03E6-7CBF-E89F-9644D038E5BB}"/>
              </a:ext>
            </a:extLst>
          </p:cNvPr>
          <p:cNvSpPr txBox="1"/>
          <p:nvPr/>
        </p:nvSpPr>
        <p:spPr>
          <a:xfrm>
            <a:off x="678428" y="804261"/>
            <a:ext cx="1023309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이번 과제를 통해 </a:t>
            </a:r>
            <a:r>
              <a:rPr lang="en-US" altLang="ko-KR" sz="1400" dirty="0"/>
              <a:t>Unreal Engine</a:t>
            </a:r>
            <a:r>
              <a:rPr lang="ko-KR" altLang="en-US" sz="1400" dirty="0"/>
              <a:t>의 멀티 플레이 기능을 구현 하면서 서버와 클라이언트의 역할</a:t>
            </a:r>
            <a:r>
              <a:rPr lang="en-US" altLang="ko-KR" sz="1400" dirty="0"/>
              <a:t>, RPC</a:t>
            </a:r>
            <a:r>
              <a:rPr lang="ko-KR" altLang="en-US" sz="1400" dirty="0"/>
              <a:t>를 통한 요청 처리</a:t>
            </a:r>
            <a:r>
              <a:rPr lang="en-US" altLang="ko-KR" sz="1400" dirty="0"/>
              <a:t>, Replication</a:t>
            </a:r>
            <a:r>
              <a:rPr lang="ko-KR" altLang="en-US" sz="1400" dirty="0"/>
              <a:t>을 통한 상태 전달 흐름을 이해 하고 적용 하는 경험을 하였습니다</a:t>
            </a:r>
            <a:r>
              <a:rPr lang="en-US" altLang="ko-KR" sz="1400" dirty="0"/>
              <a:t>. </a:t>
            </a:r>
            <a:r>
              <a:rPr lang="ko-KR" altLang="en-US" sz="1400" dirty="0"/>
              <a:t>특히 호스트에서는 정상 동작 하지만 게스트에서 문제가 발생하는 상황을 해결 하는 과정을 통해 입력 처리와 서버의 상태 변경 및 클라이언트의 반영을 구분 하여 확인 하는 방법을 익혔습니다</a:t>
            </a:r>
            <a:r>
              <a:rPr lang="en-US" altLang="ko-KR" sz="1400" dirty="0"/>
              <a:t>. 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/>
              <a:t> </a:t>
            </a:r>
            <a:r>
              <a:rPr lang="en-US" altLang="ko-KR" sz="1400" dirty="0" err="1"/>
              <a:t>GameMode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GameState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PlayerState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PlayerController</a:t>
            </a:r>
            <a:r>
              <a:rPr lang="en-US" altLang="ko-KR" sz="1400" dirty="0"/>
              <a:t>, Character</a:t>
            </a:r>
            <a:r>
              <a:rPr lang="ko-KR" altLang="en-US" sz="1400" dirty="0"/>
              <a:t>등에 각각 팀 선택</a:t>
            </a:r>
            <a:r>
              <a:rPr lang="en-US" altLang="ko-KR" sz="1400" dirty="0"/>
              <a:t>, </a:t>
            </a:r>
            <a:r>
              <a:rPr lang="ko-KR" altLang="en-US" sz="1400" dirty="0"/>
              <a:t>전투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리스폰등의</a:t>
            </a:r>
            <a:r>
              <a:rPr lang="ko-KR" altLang="en-US" sz="1400" dirty="0"/>
              <a:t> 기능을 적용 하였고 이를 통해 각 클래스에 어떤 기능과 데이터를 배치 해야 하는지</a:t>
            </a:r>
            <a:r>
              <a:rPr lang="en-US" altLang="ko-KR" sz="1400" dirty="0"/>
              <a:t>, </a:t>
            </a:r>
            <a:r>
              <a:rPr lang="ko-KR" altLang="en-US" sz="1400" dirty="0"/>
              <a:t>캐릭터가 사망 하고 다시 생성 할 대 어떤 상태를 유지 해야 하는지 판단 할 수 있게 되었습니다</a:t>
            </a:r>
            <a:r>
              <a:rPr lang="en-US" altLang="ko-KR" sz="1400" dirty="0"/>
              <a:t>. </a:t>
            </a:r>
          </a:p>
          <a:p>
            <a:pPr marL="285750" indent="-285750">
              <a:buFontTx/>
              <a:buChar char="-"/>
            </a:pPr>
            <a:r>
              <a:rPr lang="ko-KR" altLang="en-US" sz="1400" dirty="0"/>
              <a:t>무기 데이터와 공통 전투 처리를 분리 하고 총기교체 </a:t>
            </a:r>
            <a:r>
              <a:rPr lang="ko-KR" altLang="en-US" sz="1400" dirty="0" err="1"/>
              <a:t>쉴드</a:t>
            </a:r>
            <a:r>
              <a:rPr lang="ko-KR" altLang="en-US" sz="1400" dirty="0"/>
              <a:t> 아이템 획득 기능을 연결 하면서 기존 구조를 활용해 기능을 확장 할</a:t>
            </a:r>
            <a:r>
              <a:rPr lang="en-US" altLang="ko-KR" sz="1400" dirty="0"/>
              <a:t> </a:t>
            </a:r>
            <a:r>
              <a:rPr lang="ko-KR" altLang="en-US" sz="1400" dirty="0"/>
              <a:t>수 있게 되었습니다</a:t>
            </a:r>
            <a:r>
              <a:rPr lang="en-US" altLang="ko-KR" sz="1400" dirty="0"/>
              <a:t>. </a:t>
            </a:r>
            <a:r>
              <a:rPr lang="ko-KR" altLang="en-US" sz="1400" dirty="0"/>
              <a:t>이를 통해 </a:t>
            </a:r>
            <a:r>
              <a:rPr lang="en-US" altLang="ko-KR" sz="1400" dirty="0"/>
              <a:t>UI </a:t>
            </a:r>
            <a:r>
              <a:rPr lang="ko-KR" altLang="en-US" sz="1400" dirty="0"/>
              <a:t>와 애니메이션을 게임 상태에 연결 하여 </a:t>
            </a:r>
            <a:r>
              <a:rPr lang="en-US" altLang="ko-KR" sz="1400" dirty="0"/>
              <a:t>C++</a:t>
            </a:r>
            <a:r>
              <a:rPr lang="ko-KR" altLang="en-US" sz="1400" dirty="0"/>
              <a:t>과 </a:t>
            </a:r>
            <a:r>
              <a:rPr lang="en-US" altLang="ko-KR" sz="1400" dirty="0"/>
              <a:t>blueprint </a:t>
            </a:r>
            <a:r>
              <a:rPr lang="ko-KR" altLang="en-US" sz="1400" dirty="0"/>
              <a:t>설정 사이의 관계를 이해 하고 연동 하는 능력을 높였습니다</a:t>
            </a:r>
            <a:r>
              <a:rPr lang="en-US" altLang="ko-KR" sz="1400" dirty="0"/>
              <a:t>. </a:t>
            </a:r>
            <a:endParaRPr lang="ko-KR" altLang="en-US" sz="1400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C4DA3F-5BAB-650C-C40E-4ACC86E04B36}"/>
              </a:ext>
            </a:extLst>
          </p:cNvPr>
          <p:cNvSpPr txBox="1"/>
          <p:nvPr/>
        </p:nvSpPr>
        <p:spPr>
          <a:xfrm>
            <a:off x="575687" y="331776"/>
            <a:ext cx="1023309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100" dirty="0"/>
              <a:t>2026-10-21~2026-10-27</a:t>
            </a:r>
          </a:p>
          <a:p>
            <a:pPr marL="742950" lvl="1" indent="-285750">
              <a:buFontTx/>
              <a:buChar char="-"/>
            </a:pPr>
            <a:r>
              <a:rPr lang="ko-KR" altLang="en-US" sz="1100" dirty="0"/>
              <a:t>호스트와 원격 클라이언트간 상호 작용 테스트</a:t>
            </a:r>
            <a:r>
              <a:rPr lang="en-US" altLang="ko-KR" sz="1100" dirty="0"/>
              <a:t> (</a:t>
            </a:r>
            <a:r>
              <a:rPr lang="ko-KR" altLang="en-US" sz="1100" dirty="0"/>
              <a:t>피격</a:t>
            </a:r>
            <a:r>
              <a:rPr lang="en-US" altLang="ko-KR" sz="1100" dirty="0"/>
              <a:t>, </a:t>
            </a:r>
            <a:r>
              <a:rPr lang="ko-KR" altLang="en-US" sz="1100" dirty="0"/>
              <a:t>움직임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애니메이션등</a:t>
            </a:r>
            <a:r>
              <a:rPr lang="en-US" altLang="ko-KR" sz="1100" dirty="0"/>
              <a:t>) </a:t>
            </a:r>
            <a:r>
              <a:rPr lang="ko-KR" altLang="en-US" sz="1100" dirty="0"/>
              <a:t>테스트 및 오류 수정</a:t>
            </a:r>
            <a:endParaRPr lang="en-US" altLang="ko-KR" sz="1100" dirty="0"/>
          </a:p>
          <a:p>
            <a:pPr marL="742950" lvl="1" indent="-285750">
              <a:buFontTx/>
              <a:buChar char="-"/>
            </a:pPr>
            <a:r>
              <a:rPr lang="ko-KR" altLang="en-US" sz="1100" dirty="0"/>
              <a:t>중복 요청 및 타이머 </a:t>
            </a:r>
            <a:r>
              <a:rPr lang="ko-KR" altLang="en-US" sz="1100" dirty="0" err="1"/>
              <a:t>콜백</a:t>
            </a:r>
            <a:r>
              <a:rPr lang="ko-KR" altLang="en-US" sz="1100" dirty="0"/>
              <a:t> 처리 및 테스트</a:t>
            </a:r>
            <a:endParaRPr lang="en-US" altLang="ko-KR" sz="1100" dirty="0"/>
          </a:p>
          <a:p>
            <a:pPr marL="742950" lvl="1" indent="-285750">
              <a:buFontTx/>
              <a:buChar char="-"/>
            </a:pPr>
            <a:r>
              <a:rPr lang="ko-KR" altLang="en-US" sz="1100" dirty="0"/>
              <a:t>서버 사망 판정 및 캐릭터 이동</a:t>
            </a:r>
            <a:r>
              <a:rPr lang="en-US" altLang="ko-KR" sz="1100" dirty="0"/>
              <a:t> </a:t>
            </a:r>
            <a:r>
              <a:rPr lang="ko-KR" altLang="en-US" sz="1100" dirty="0" err="1"/>
              <a:t>리스폰</a:t>
            </a:r>
            <a:r>
              <a:rPr lang="ko-KR" altLang="en-US" sz="1100" dirty="0"/>
              <a:t> 및 전투 상태 초기화</a:t>
            </a:r>
            <a:r>
              <a:rPr lang="en-US" altLang="ko-KR" sz="1100" dirty="0"/>
              <a:t> </a:t>
            </a:r>
            <a:r>
              <a:rPr lang="ko-KR" altLang="en-US" sz="1100" dirty="0"/>
              <a:t>구현 및 테스트 </a:t>
            </a:r>
            <a:endParaRPr lang="en-US" altLang="ko-KR" sz="1100" dirty="0"/>
          </a:p>
          <a:p>
            <a:pPr marL="742950" lvl="1" indent="-285750">
              <a:buFontTx/>
              <a:buChar char="-"/>
            </a:pPr>
            <a:r>
              <a:rPr lang="ko-KR" altLang="en-US" sz="1100" dirty="0"/>
              <a:t>팀 배정 </a:t>
            </a:r>
            <a:r>
              <a:rPr lang="en-US" altLang="ko-KR" sz="1100" dirty="0"/>
              <a:t>UI </a:t>
            </a:r>
            <a:r>
              <a:rPr lang="ko-KR" altLang="en-US" sz="1100" dirty="0"/>
              <a:t>및 팀 분배 서버 처리 </a:t>
            </a:r>
            <a:r>
              <a:rPr lang="en-US" altLang="ko-KR" sz="1100" dirty="0"/>
              <a:t>Player </a:t>
            </a:r>
            <a:r>
              <a:rPr lang="ko-KR" altLang="en-US" sz="1100" dirty="0"/>
              <a:t>진영별 표시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리스폰</a:t>
            </a:r>
            <a:r>
              <a:rPr lang="ko-KR" altLang="en-US" sz="1100" dirty="0"/>
              <a:t> 위치 </a:t>
            </a:r>
            <a:r>
              <a:rPr lang="ko-KR" altLang="en-US" sz="1100" dirty="0" err="1"/>
              <a:t>지정등</a:t>
            </a:r>
            <a:endParaRPr lang="en-US" altLang="ko-KR" sz="1100" dirty="0"/>
          </a:p>
          <a:p>
            <a:pPr marL="742950" lvl="1" indent="-285750">
              <a:buFontTx/>
              <a:buChar char="-"/>
            </a:pPr>
            <a:r>
              <a:rPr lang="ko-KR" altLang="en-US" sz="1100" dirty="0"/>
              <a:t>저속</a:t>
            </a:r>
            <a:r>
              <a:rPr lang="en-US" altLang="ko-KR" sz="1100" dirty="0"/>
              <a:t>, </a:t>
            </a:r>
            <a:r>
              <a:rPr lang="ko-KR" altLang="en-US" sz="1100" dirty="0"/>
              <a:t>퇴장 재 접속 상태 처리</a:t>
            </a:r>
            <a:r>
              <a:rPr lang="en-US" altLang="ko-KR" sz="1100" dirty="0"/>
              <a:t> </a:t>
            </a:r>
            <a:r>
              <a:rPr lang="ko-KR" altLang="en-US" sz="1100" dirty="0"/>
              <a:t>및 동기화 작업</a:t>
            </a:r>
            <a:r>
              <a:rPr lang="en-US" altLang="ko-KR" sz="1100" dirty="0"/>
              <a:t> </a:t>
            </a:r>
            <a:r>
              <a:rPr lang="ko-KR" altLang="en-US" sz="1100" dirty="0"/>
              <a:t>및 테스트</a:t>
            </a:r>
            <a:r>
              <a:rPr lang="en-US" altLang="ko-KR" sz="1100" dirty="0"/>
              <a:t>, </a:t>
            </a:r>
            <a:r>
              <a:rPr lang="ko-KR" altLang="en-US" sz="1100" dirty="0"/>
              <a:t>접속 오류 처리 및 테스트</a:t>
            </a:r>
            <a:endParaRPr lang="en-US" altLang="ko-KR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51194A-10F7-95C5-3E2F-1DBE8AE35FDD}"/>
              </a:ext>
            </a:extLst>
          </p:cNvPr>
          <p:cNvSpPr txBox="1"/>
          <p:nvPr/>
        </p:nvSpPr>
        <p:spPr>
          <a:xfrm>
            <a:off x="575687" y="1666140"/>
            <a:ext cx="7857129" cy="377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50" b="1" dirty="0"/>
              <a:t>5. </a:t>
            </a:r>
            <a:r>
              <a:rPr lang="ko-KR" altLang="en-US" sz="1850" b="1" dirty="0"/>
              <a:t>업무결과 </a:t>
            </a:r>
            <a:r>
              <a:rPr lang="en-US" altLang="ko-KR" sz="1850" b="1" dirty="0"/>
              <a:t>(</a:t>
            </a:r>
            <a:r>
              <a:rPr lang="ko-KR" altLang="en-US" sz="1850" b="1" dirty="0"/>
              <a:t>결과물 첨부</a:t>
            </a:r>
            <a:r>
              <a:rPr lang="en-US" altLang="ko-KR" sz="1850" b="1" dirty="0"/>
              <a:t>)</a:t>
            </a:r>
            <a:endParaRPr lang="ko-KR" altLang="en-US" sz="18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1028CF-50A6-B30C-CDF5-E1B8DAF0BBC5}"/>
              </a:ext>
            </a:extLst>
          </p:cNvPr>
          <p:cNvSpPr txBox="1"/>
          <p:nvPr/>
        </p:nvSpPr>
        <p:spPr>
          <a:xfrm>
            <a:off x="690495" y="2102345"/>
            <a:ext cx="102330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895868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E8AC05D6-54D6-2952-91A3-3178575C30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65314" y="6411160"/>
            <a:ext cx="1520825" cy="292100"/>
          </a:xfrm>
          <a:prstGeom prst="rect">
            <a:avLst/>
          </a:prstGeom>
          <a:noFill/>
          <a:ln>
            <a:noFill/>
          </a:ln>
        </p:spPr>
        <p:txBody>
          <a:bodyPr wrap="none" lIns="91431" tIns="45715" rIns="91431" bIns="45715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0" i="0" u="sng" strike="noStrike" kern="120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End of Document</a:t>
            </a:r>
            <a:endParaRPr kumimoji="0" lang="ko-KR" altLang="en-US" sz="1300" b="0" i="0" u="sng" strike="noStrike" kern="1200" cap="none" spc="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7833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9525">
          <a:solidFill>
            <a:schemeClr val="bg1">
              <a:lumMod val="95000"/>
            </a:schemeClr>
          </a:solidFill>
        </a:ln>
      </a:spPr>
      <a:bodyPr wrap="none" anchor="ctr"/>
      <a:lstStyle>
        <a:defPPr defTabSz="914218" fontAlgn="auto">
          <a:spcBef>
            <a:spcPts val="0"/>
          </a:spcBef>
          <a:spcAft>
            <a:spcPts val="0"/>
          </a:spcAft>
          <a:buFont typeface="Arial" panose="020B0604020202020204" pitchFamily="34" charset="0"/>
          <a:buChar char="•"/>
          <a:defRPr kumimoji="0" sz="1000" b="1" dirty="0" err="1" smtClean="0">
            <a:solidFill>
              <a:prstClr val="black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91431" tIns="45715" rIns="91431" bIns="45715" rtlCol="0">
        <a:spAutoFit/>
      </a:bodyPr>
      <a:lstStyle>
        <a:defPPr algn="ctr" defTabSz="914218" fontAlgn="auto">
          <a:spcBef>
            <a:spcPts val="0"/>
          </a:spcBef>
          <a:spcAft>
            <a:spcPts val="0"/>
          </a:spcAft>
          <a:buFont typeface="Arial" panose="020B0604020202020204" pitchFamily="34" charset="0"/>
          <a:buChar char="•"/>
          <a:defRPr kumimoji="0" sz="1200" dirty="0" err="1" smtClean="0">
            <a:latin typeface="+mn-ea"/>
            <a:ea typeface="+mn-ea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DC718CE-AE59-499B-8094-4C7C0F0472B9}">
  <we:reference id="cba9fc06-6fc9-492e-9525-923870a3b909" version="2.0.0.0" store="EXCatalog" storeType="EXCatalog"/>
  <we:alternateReferences>
    <we:reference id="WA200010215" version="2.0.0.0" store="ko-KR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2831</TotalTime>
  <Words>709</Words>
  <Application>Microsoft Office PowerPoint</Application>
  <PresentationFormat>와이드스크린</PresentationFormat>
  <Paragraphs>59</Paragraphs>
  <Slides>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5</vt:i4>
      </vt:variant>
    </vt:vector>
  </HeadingPairs>
  <TitlesOfParts>
    <vt:vector size="14" baseType="lpstr">
      <vt:lpstr>굴림</vt:lpstr>
      <vt:lpstr>맑은 고딕</vt:lpstr>
      <vt:lpstr>맑은 고딕</vt:lpstr>
      <vt:lpstr>Aptos</vt:lpstr>
      <vt:lpstr>Aptos Display</vt:lpstr>
      <vt:lpstr>Arial</vt:lpstr>
      <vt:lpstr>Office 테마</vt:lpstr>
      <vt:lpstr>디자인 사용자 지정</vt:lpstr>
      <vt:lpstr>5_Office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허영/SG 리소스지원팀</dc:creator>
  <cp:lastModifiedBy>박종호B/SG 리소스지원팀</cp:lastModifiedBy>
  <cp:revision>38</cp:revision>
  <dcterms:created xsi:type="dcterms:W3CDTF">2026-06-04T10:28:46Z</dcterms:created>
  <dcterms:modified xsi:type="dcterms:W3CDTF">2026-10-27T09:00:16Z</dcterms:modified>
</cp:coreProperties>
</file>